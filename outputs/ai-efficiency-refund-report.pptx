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59" r:id="rId8"/>
    <p:sldId id="260" r:id="rId9"/>
    <p:sldId id="266" r:id="rId10"/>
    <p:sldId id="269" r:id="rId11"/>
    <p:sldId id="267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这次分享不是讲 AI 概念，而是复盘我这几天如何参考《管理者如何带团队用 AI》的思路，从一个真实运营场景切入，把 AI 提效从想法推进到可跑、可查、可迭代的工作流。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当前运营、数据策略、运维都有大量重复的信息处理工作。我的判断是，第一阶段不要追求 AI 替人做决策，而是先让 AI 做低风险、可检查的工作：收集、整理、生成初稿、提醒和初步分析。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我借用书里的框架：先盘工作、再选工具、重新分工、让流程稳定、最后形成团队能力。退费率播报就是这个路径下挑出来的一个样板。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退费率播报包含从 DataFinder 拉取支付和退费数据，按企业聚合，计算退费率、金额、支付数、退费后金额等指标，对比昨日同分时和全日参考，然后生成适合钉钉查看的格式并推送。最后还要把经验沉淀到文档和 Skill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三天的工作不是离散尝试。19 号主要是工具链和数据链路；20 号补齐钉钉 OpenClaw、Gateway 和机器人能力；21 号把退费率播报推进到可复用版本，并开始有版本文档、调度和 Skill 沉淀。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退费率播报包含从 DataFinder 拉取支付和退费数据，按企业聚合，计算退费率、金额、支付数、退费后金额等指标，对比昨日同分时和全日参考，然后生成适合钉钉查看的格式并推送。最后还要把经验沉淀到文档和 Skill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退费率播报包含从 DataFinder 拉取支付和退费数据，按企业聚合，计算退费率、金额、支付数、退费后金额等指标，对比昨日同分时和全日参考，然后生成适合钉钉查看的格式并推送。最后还要把经验沉淀到文档和 Skill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退费率播报包含从 DataFinder 拉取支付和退费数据，按企业聚合，计算退费率、金额、支付数、退费后金额等指标，对比昨日同分时和全日参考，然后生成适合钉钉查看的格式并推送。最后还要把经验沉淀到文档和 Skill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退费率播报包含从 DataFinder 拉取支付和退费数据，按企业聚合，计算退费率、金额、支付数、退费后金额等指标，对比昨日同分时和全日参考，然后生成适合钉钉查看的格式并推送。最后还要把经验沉淀到文档和 Skill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这次可以提炼成一个方法：先选真实、高频、低风险任务；明确输入来源和输出格式；跑通最小样板；做口径校验和展示验证；最后沉淀文档和 Skill，并根据团队反馈持续迭代。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对运营组长，它减少重复查数和播报，把精力释放到判断和跟进。对数据和策略组长，它推动指标口径标准化。对运维，它把机器人、调度、服务、日志和健康检查纳入可维护链路。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下一步重点不是做更多零散尝试，而是四件事：梳理任务，优化数据源准确性，明确工作流和格式，持续迭代并让 AI 融入团队日常。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我认为判断 AI 有没有真正提效，不看用了多少工具，而看有没有改变团队工作方式：是否减少重复整理时间、让信息更快被看见、输出更稳定、保留人的判断、能复用到下一个任务，并沉淀成团队可继承的方法。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hyperlink" Target="https://ocn4u1j6s1bk.feishu.cn/wiki/E1bvwfd2IinnwXkOsJmc15tenlw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ocn4u1j6s1bk.feishu.cn/wiki/AzJiwuqttixLXPkEEIycfNPdnGh" TargetMode="Externa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33"/>
              </a:gs>
              <a:gs pos="100000">
                <a:srgbClr val="0A7C86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257300"/>
            <a:ext cx="7429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从退费率播报开始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1336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DFF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FF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提效的第一轮落地复盘</a:t>
            </a:r>
            <a:endParaRPr sz="2550" b="1">
              <a:solidFill>
                <a:srgbClr val="DFF7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9908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E6F2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E6F2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月 19-21 日工作总结｜从工具链验证到业务样板跑通</a:t>
            </a:r>
            <a:endParaRPr sz="1725" b="0">
              <a:solidFill>
                <a:srgbClr val="E6F2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4095750"/>
            <a:ext cx="60960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442912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关键词：真实任务  /  数据口径  /  钉钉播报  /  工作流沉淀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10750" y="6057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DFF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FF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内部分享草稿</a:t>
            </a:r>
            <a:endParaRPr sz="1350" b="0">
              <a:solidFill>
                <a:srgbClr val="DFF7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提效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项目：选什么任务开始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试点？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240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先找到</a:t>
            </a:r>
            <a:r>
              <a:rPr lang="zh-CN"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岗位任务</a:t>
            </a:r>
            <a:r>
              <a: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中真实、重复、</a:t>
            </a:r>
            <a:r>
              <a:rPr lang="zh-CN"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低风险的工作，作为</a:t>
            </a:r>
            <a:r>
              <a:rPr lang="en-US" altLang="zh-CN"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</a:t>
            </a:r>
            <a:r>
              <a:rPr lang="zh-CN" altLang="en-US"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endParaRPr lang="zh-CN" altLang="en-US" sz="20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85190" y="219011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32840" y="212344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数据播报、监控和预警：定时播报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\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条件触发播报，上线或者配置修改后数据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跟进、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85190" y="299275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32840" y="292608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信息整理：客户信息舆情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用户反馈收集、播报、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85190" y="348805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32840" y="342138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汇报初稿：</a:t>
            </a:r>
            <a:r>
              <a: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日报、周报、复盘材料生成</a:t>
            </a: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初稿</a:t>
            </a:r>
            <a:endParaRPr lang="zh-CN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85190" y="398335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32840" y="391668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异常跟进：创建工单，跟进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85190" y="447865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32840" y="441198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文档整理：</a:t>
            </a:r>
            <a:r>
              <a: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跨工具信息搬运、格式整理、文档沉淀</a:t>
            </a:r>
            <a:endParaRPr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597775" y="2769235"/>
            <a:ext cx="3714750" cy="2095500"/>
          </a:xfrm>
          <a:prstGeom prst="roundRect">
            <a:avLst>
              <a:gd name="adj" fmla="val 3636"/>
            </a:avLst>
          </a:prstGeom>
          <a:solidFill>
            <a:srgbClr val="EEF8F8"/>
          </a:solidFill>
          <a:ln w="9525">
            <a:solidFill>
              <a:srgbClr val="B7DCD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54265" y="2769235"/>
            <a:ext cx="66675" cy="20955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07325" y="2940685"/>
            <a:ext cx="333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第一阶段不追求全自动决策。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先承担收集、整理、生成、提醒、初步分析；人继续负责判断、确认和行动。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AI 放进真实岗位工作，而不是停留在抽象能力演示。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66750" y="605790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68680" y="492950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16330" y="4862830"/>
            <a:ext cx="592010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助手：钉钉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企业微信可直接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助手并询问客户的基本情况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配置情况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数据表现，并针对问题和需求生成初稿方案（售前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售后）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选择场景：退费率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049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落地思路</a:t>
            </a:r>
            <a:endParaRPr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4850" y="2381250"/>
            <a:ext cx="17716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2590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2914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先盘工作</a:t>
            </a:r>
            <a:endParaRPr sz="17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9470" y="3333750"/>
            <a:ext cx="1381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找出</a:t>
            </a:r>
            <a:r>
              <a:rPr lang="zh-CN"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岗位里</a:t>
            </a: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重复、高频、可标准化任务</a:t>
            </a:r>
            <a:endParaRPr lang="en-US" sz="12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514600" y="2971800"/>
            <a:ext cx="266700" cy="228600"/>
          </a:xfrm>
          <a:prstGeom prst="rightArrow">
            <a:avLst/>
          </a:prstGeom>
          <a:solidFill>
            <a:srgbClr val="D8E0EA"/>
          </a:solidFill>
          <a:ln w="0">
            <a:noFill/>
            <a:prstDash val="solid"/>
          </a:ln>
        </p:spPr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57500" y="2381250"/>
            <a:ext cx="17716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028950" y="2590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028950" y="2914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再选工具</a:t>
            </a:r>
            <a:endParaRPr sz="17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028950" y="3333750"/>
            <a:ext cx="1381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连接数据源、文档、IM、自动化工具</a:t>
            </a:r>
            <a:endParaRPr sz="12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667250" y="2971800"/>
            <a:ext cx="266700" cy="228600"/>
          </a:xfrm>
          <a:prstGeom prst="rightArrow">
            <a:avLst/>
          </a:prstGeom>
          <a:solidFill>
            <a:srgbClr val="D8E0EA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10150" y="2381250"/>
            <a:ext cx="17716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181600" y="2590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181600" y="2914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重新分工</a:t>
            </a:r>
            <a:endParaRPr sz="17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181600" y="3333750"/>
            <a:ext cx="1381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做信息处理和初稿，人做判断</a:t>
            </a:r>
            <a:endParaRPr sz="12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819900" y="2971800"/>
            <a:ext cx="266700" cy="228600"/>
          </a:xfrm>
          <a:prstGeom prst="rightArrow">
            <a:avLst/>
          </a:prstGeom>
          <a:solidFill>
            <a:srgbClr val="D8E0EA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162800" y="2381250"/>
            <a:ext cx="17716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334250" y="2590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334250" y="2914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让它稳定</a:t>
            </a:r>
            <a:endParaRPr sz="17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334250" y="3333750"/>
            <a:ext cx="1381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固化流程、口径、格式、异常处理</a:t>
            </a:r>
            <a:endParaRPr sz="12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右箭头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972550" y="2971800"/>
            <a:ext cx="266700" cy="228600"/>
          </a:xfrm>
          <a:prstGeom prst="rightArrow">
            <a:avLst/>
          </a:prstGeom>
          <a:solidFill>
            <a:srgbClr val="D8E0EA"/>
          </a:solidFill>
          <a:ln w="0">
            <a:noFill/>
            <a:prstDash val="solid"/>
          </a:ln>
        </p:spPr>
      </p:sp>
      <p:sp>
        <p:nvSpPr>
          <p:cNvPr id="27" name="圆角矩形 2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315450" y="2381250"/>
            <a:ext cx="17716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486900" y="25908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9486900" y="2914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形成能力</a:t>
            </a:r>
            <a:endParaRPr sz="172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486900" y="3333750"/>
            <a:ext cx="1381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从单个样板扩展到团队机制</a:t>
            </a:r>
            <a:endParaRPr sz="12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752600" y="4810125"/>
            <a:ext cx="8572500" cy="800100"/>
          </a:xfrm>
          <a:prstGeom prst="roundRect">
            <a:avLst>
              <a:gd name="adj" fmla="val 9524"/>
            </a:avLst>
          </a:prstGeom>
          <a:solidFill>
            <a:srgbClr val="EEF8F8"/>
          </a:solidFill>
          <a:ln w="9525">
            <a:solidFill>
              <a:srgbClr val="B7DCD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752600" y="4810125"/>
            <a:ext cx="66675" cy="800100"/>
          </a:xfrm>
          <a:prstGeom prst="rect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962150" y="4981575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这次没有先问“大模型能做什么”，而是先选了一个真实业务场景：退费率播报。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样板案例：退费率播报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t="4859"/>
          <a:stretch>
            <a:fillRect/>
          </a:stretch>
        </p:blipFill>
        <p:spPr>
          <a:xfrm>
            <a:off x="479425" y="2924810"/>
            <a:ext cx="3394075" cy="27393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3570" y="1465580"/>
            <a:ext cx="1088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生成分析脚本，并且打通钉钉自动化播报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预警，目前采用本地部署的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6750" y="2306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钉钉自动播报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7750" y="2306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播报明细表格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30" y="2924810"/>
            <a:ext cx="8363585" cy="2805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实现工作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619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月 19 日</a:t>
            </a:r>
            <a:endParaRPr sz="1425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0383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266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验证工具链和数据链路</a:t>
            </a:r>
            <a:endParaRPr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28700" y="313372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30670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DingTalk / Feishu / DataFinder / Codex 协作路径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28700" y="372427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365760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尝试取数、生成报表、推送消息、写入文档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28700" y="431482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42481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暴露口径、展示、工具稳定性问题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1619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月 20 日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57700" y="20383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86300" y="2266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补齐钉钉</a:t>
            </a:r>
            <a:r>
              <a:rPr lang="zh-CN"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zh-CN"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4705350" y="3133725"/>
            <a:ext cx="95250" cy="952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953000" y="30670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安装和修复 DingTalk OpenClaw / Gateway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705350" y="3724275"/>
            <a:ext cx="95250" cy="952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53000" y="365760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验证机器人、网关、插件、健康检查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705350" y="4314825"/>
            <a:ext cx="95250" cy="952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0" y="42481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为钉钉卡片和自动化播报打基础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34350" y="1619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月 21 日</a:t>
            </a:r>
            <a:endParaRPr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34350" y="2038350"/>
            <a:ext cx="3143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62950" y="22669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</a:t>
            </a:r>
            <a:r>
              <a:rPr lang="zh-CN"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</a:t>
            </a: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</a:t>
            </a:r>
            <a:endParaRPr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382000" y="31337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29650" y="30670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完善字段和展示格式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8382000" y="372427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629650" y="365760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修正分时 / 全天对比口径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8382000" y="43148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629650" y="42481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补充青龙调度</a:t>
            </a:r>
            <a:r>
              <a:rPr lang="zh-CN"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开关（暂未启用）</a:t>
            </a:r>
            <a:r>
              <a:rPr sz="12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、版本文档、Skill 沉淀</a:t>
            </a:r>
            <a:endParaRPr sz="12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路线从“能不能用”推进到“能不能稳定复用”。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66750" y="605790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样板案例：退费率播报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0495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它不是简单发一条消息，而是一个完整的业务工作流。</a:t>
            </a:r>
            <a:endParaRPr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DataFinder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取数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2190750" y="2838450"/>
            <a:ext cx="323850" cy="228600"/>
          </a:xfrm>
          <a:prstGeom prst="rightArrow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55270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8605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企业维度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3962400" y="2838450"/>
            <a:ext cx="323850" cy="228600"/>
          </a:xfrm>
          <a:prstGeom prst="rightArrow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2435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指标计算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与对比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5734050" y="2838450"/>
            <a:ext cx="323850" cy="228600"/>
          </a:xfrm>
          <a:prstGeom prst="rightArrow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2935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钉钉格式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7505700" y="2838450"/>
            <a:ext cx="323850" cy="228600"/>
          </a:xfrm>
          <a:prstGeom prst="rightArrow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786765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推送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9277350" y="2838450"/>
            <a:ext cx="323850" cy="228600"/>
          </a:xfrm>
          <a:prstGeom prst="rightArrow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639300" y="2495550"/>
            <a:ext cx="13525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72650" y="2705100"/>
            <a:ext cx="108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文档/Skill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  <a:endParaRPr sz="15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066800" y="423862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14450" y="4171950"/>
            <a:ext cx="832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计算退费率、退费金额、支付金额、退费后金额等指标</a:t>
            </a:r>
            <a:endParaRPr sz="16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066800" y="465772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14450" y="4591050"/>
            <a:ext cx="832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对比昨日同分时，以及前日 / 昨日全天参考值</a:t>
            </a:r>
            <a:endParaRPr sz="16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1066800" y="507682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14450" y="5010150"/>
            <a:ext cx="832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把数据、格式、播报、文档、验证连接成一条链路</a:t>
            </a:r>
            <a:endParaRPr sz="16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价值不在于 AI 生成文字，而在于 AI 进入真实业务链路。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66750" y="605790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</a:rPr>
              <a:t>运营团队 AI 提效落地复盘</a:t>
            </a:r>
            <a:endParaRPr sz="1050" b="1">
              <a:solidFill>
                <a:srgbClr val="0A7C8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cs typeface="微软雅黑" panose="020B0503020204020204" charset="-122"/>
              </a:rPr>
              <a:t>0</a:t>
            </a:r>
            <a:r>
              <a:rPr lang="en-US" sz="1125" b="1">
                <a:solidFill>
                  <a:srgbClr val="5B677A"/>
                </a:solidFill>
                <a:cs typeface="微软雅黑" panose="020B0503020204020204" charset="-122"/>
              </a:rPr>
              <a:t>6</a:t>
            </a:r>
            <a:endParaRPr lang="en-US" sz="1125" b="1">
              <a:solidFill>
                <a:srgbClr val="5B677A"/>
              </a:solidFill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样板案例</a:t>
            </a:r>
            <a:r>
              <a:rPr lang="zh-CN">
                <a:sym typeface="+mn-ea"/>
              </a:rPr>
              <a:t>：完成退费率播报后，设计验证其他功能</a:t>
            </a:r>
            <a:endParaRPr lang="zh-CN">
              <a:sym typeface="+mn-ea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2780665"/>
            <a:ext cx="4656455" cy="3282950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666750" y="1527175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>
                <a:solidFill>
                  <a:srgbClr val="0B1F33"/>
                </a:solidFill>
                <a:cs typeface="微软雅黑" panose="020B0503020204020204" charset="-122"/>
              </a:rPr>
              <a:t>智能助手</a:t>
            </a:r>
            <a:endParaRPr lang="zh-CN" altLang="zh-CN" sz="2000" b="1">
              <a:solidFill>
                <a:srgbClr val="0B1F33"/>
              </a:solidFill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67755" y="23066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algn="l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‌‌‍‌‍​⁠​‬​​﻿​‌​​‌‌​​​​​​﻿‍​​​​‬​‌​‍‬​​​‍​​​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客户项目沟通与产运周报（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生成）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飞书云文档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240145" y="1492885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0B1F33"/>
                </a:solidFill>
              </a:rPr>
              <a:t>自动日报</a:t>
            </a:r>
            <a:r>
              <a:rPr lang="en-US" altLang="zh-CN" sz="2000" b="1">
                <a:solidFill>
                  <a:srgbClr val="0B1F33"/>
                </a:solidFill>
              </a:rPr>
              <a:t>/</a:t>
            </a:r>
            <a:r>
              <a:rPr lang="zh-CN" altLang="en-US" sz="2000" b="1">
                <a:solidFill>
                  <a:srgbClr val="0B1F33"/>
                </a:solidFill>
              </a:rPr>
              <a:t>周报</a:t>
            </a:r>
            <a:endParaRPr lang="zh-CN" altLang="en-US" sz="2000" b="1">
              <a:solidFill>
                <a:srgbClr val="0B1F33"/>
              </a:solidFill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390" y="2853055"/>
            <a:ext cx="4872355" cy="32581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6750" y="2007235"/>
            <a:ext cx="4638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钉钉直接问问题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下一步接入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，可以做销售助手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运营助手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8390" y="1919605"/>
            <a:ext cx="3705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自动抓取钉钉群聊、台账生成内部汇报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样板案例</a:t>
            </a:r>
            <a:r>
              <a:rPr lang="zh-CN">
                <a:sym typeface="+mn-ea"/>
              </a:rPr>
              <a:t>：完成退费率播报后，设计验证其他功能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23570" y="1437005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自动复盘</a:t>
            </a:r>
            <a:r>
              <a:rPr lang="zh-CN" altLang="en-US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初稿</a:t>
            </a:r>
            <a:endParaRPr lang="zh-CN" altLang="en-US" sz="20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2708910"/>
            <a:ext cx="5318125" cy="35248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2708910"/>
            <a:ext cx="5805170" cy="3495675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096000" y="1412875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接入禅道自动工单和任务</a:t>
            </a:r>
            <a:r>
              <a:rPr lang="zh-CN" altLang="en-US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跟进</a:t>
            </a:r>
            <a:endParaRPr lang="zh-CN" altLang="en-US" sz="20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5795" y="22088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hlinkClick r:id="rId3"/>
              </a:rPr>
              <a:t>‍‌⁠​​﻿​﻿​﻿⁠‬​​​​​‍‍‌​​​‬‍​‬‍‬‍‬﻿‍​​﻿​‬‬​‍​‍​​​</a:t>
            </a:r>
            <a:r>
              <a:rPr lang="zh-CN" altLang="en-US" sz="1600">
                <a:hlinkClick r:id="rId3"/>
              </a:rPr>
              <a:t>奇富</a:t>
            </a:r>
            <a:r>
              <a:rPr lang="en-US" altLang="zh-CN" sz="1600">
                <a:hlinkClick r:id="rId3"/>
              </a:rPr>
              <a:t>26</a:t>
            </a:r>
            <a:r>
              <a:rPr lang="zh-CN" altLang="en-US" sz="1600">
                <a:hlinkClick r:id="rId3"/>
              </a:rPr>
              <a:t>年</a:t>
            </a:r>
            <a:r>
              <a:rPr lang="en-US" altLang="zh-CN" sz="1600">
                <a:hlinkClick r:id="rId3"/>
              </a:rPr>
              <a:t>05</a:t>
            </a:r>
            <a:r>
              <a:rPr lang="zh-CN" altLang="en-US" sz="1600">
                <a:hlinkClick r:id="rId3"/>
              </a:rPr>
              <a:t>月运营复盘 </a:t>
            </a:r>
            <a:r>
              <a:rPr lang="en-US" altLang="zh-CN" sz="1600">
                <a:hlinkClick r:id="rId3"/>
              </a:rPr>
              <a:t>- </a:t>
            </a:r>
            <a:r>
              <a:rPr lang="zh-CN" altLang="en-US" sz="1600">
                <a:hlinkClick r:id="rId3"/>
              </a:rPr>
              <a:t>飞书云文档</a:t>
            </a:r>
            <a:endParaRPr lang="zh-CN" altLang="en-US" sz="1600">
              <a:hlinkClick r:id="rId3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3570" y="1887220"/>
            <a:ext cx="4638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生成给客户的复盘文档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1905635"/>
            <a:ext cx="4638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核查禅道进度，跟进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bug/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231765" y="2188845"/>
            <a:ext cx="5067935" cy="367093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思路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31900" y="1372870"/>
            <a:ext cx="3048000" cy="118173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41450" y="158242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lang="zh-CN" altLang="en-US" sz="18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41450" y="2001520"/>
            <a:ext cx="2590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</a:t>
            </a:r>
            <a:r>
              <a:rPr lang="en-US" alt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</a:t>
            </a:r>
            <a:r>
              <a:rPr lang="en-US" alt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企业微信，均有</a:t>
            </a:r>
            <a:r>
              <a:rPr lang="en-US" alt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lang="en-US" altLang="zh-CN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31900" y="4981575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41450" y="5191125"/>
            <a:ext cx="25914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lang="en-US" alt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收集、清洗</a:t>
            </a:r>
            <a:endParaRPr lang="zh-CN" altLang="en-US" sz="18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441450" y="5610225"/>
            <a:ext cx="2590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</a:t>
            </a: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endParaRPr lang="zh-CN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鉴云数仓（生产库、爬虫</a:t>
            </a: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数据）</a:t>
            </a:r>
            <a:endParaRPr lang="zh-CN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外部数据源（客服、外网</a:t>
            </a: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endParaRPr lang="zh-CN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231900" y="2708910"/>
            <a:ext cx="3048000" cy="21558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415415" y="2918460"/>
            <a:ext cx="279273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lang="en-US" alt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en-US" altLang="zh-CN"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Agent/Workflow</a:t>
            </a:r>
            <a:endParaRPr lang="en-US" altLang="zh-CN" sz="18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415415" y="3717925"/>
            <a:ext cx="2590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</a:t>
            </a:r>
            <a:r>
              <a:rPr lang="en-US" alt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</a:t>
            </a:r>
            <a:r>
              <a:rPr lang="en-US" altLang="zh-CN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预警</a:t>
            </a:r>
            <a:endParaRPr lang="zh-CN" altLang="en-US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汇报文档初稿</a:t>
            </a:r>
            <a:endParaRPr lang="en-US" altLang="zh-CN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</a:t>
            </a:r>
            <a:endParaRPr lang="zh-CN" altLang="en-US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信息爬取、清洗、</a:t>
            </a:r>
            <a:r>
              <a:rPr lang="zh-CN" altLang="en-US"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lang="zh-CN" altLang="en-US"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5488305" y="247396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735955" y="2407285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数据播报、监控和预警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488305" y="312293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35955" y="3056255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舆情、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合作伙伴需求、用户反馈播报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5488305" y="370014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735955" y="3633470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汇报初稿</a:t>
            </a:r>
            <a:endParaRPr lang="zh-CN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488305" y="426720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735955" y="4200525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异常跟进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5488305" y="476250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735955" y="4695825"/>
            <a:ext cx="565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文档整理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471795" y="531495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719445" y="5248275"/>
            <a:ext cx="592010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r>
              <a:rPr lang="en-US" alt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运营智能</a:t>
            </a:r>
            <a:r>
              <a:rPr lang="zh-CN" sz="18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</a:t>
            </a:r>
            <a:endParaRPr lang="zh-CN" altLang="en-US" sz="18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4007485" y="3573145"/>
            <a:ext cx="1008380" cy="5759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这次形成的初步方法</a:t>
            </a:r>
            <a:endParaRPr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5049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AI 工作流从想法到落地，可以按这 8 步推进。</a:t>
            </a:r>
            <a:endParaRPr sz="187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047750" y="2171700"/>
            <a:ext cx="323850" cy="3238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22098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04950" y="219075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选真实、高频、低风险任务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47750" y="2838450"/>
            <a:ext cx="323850" cy="3238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8765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04950" y="285750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明确输入来源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47750" y="3505200"/>
            <a:ext cx="323850" cy="3238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3543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04950" y="352425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明确输出格式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047750" y="4171950"/>
            <a:ext cx="323850" cy="3238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47750" y="42100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04950" y="419100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跑通最小样板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572250" y="217170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22098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29450" y="219075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做口径校验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572250" y="283845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28765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29450" y="285750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做展示验证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572250" y="350520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3543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29450" y="352425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沉淀文档和 Skill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572250" y="417195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572250" y="42100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29450" y="4191000"/>
            <a:ext cx="430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根据反馈持续迭代</a:t>
            </a:r>
            <a:endParaRPr sz="172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核心是从单点尝试走向可复用的闭环。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66750" y="605790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下一步行动：梳理任务、选择目标、开始</a:t>
            </a:r>
            <a:r>
              <a:rPr lang="zh-CN" alt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</a:t>
            </a:r>
            <a:endParaRPr lang="zh-CN" altLang="en-US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917065"/>
            <a:ext cx="3143250" cy="36131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917065"/>
            <a:ext cx="3143250" cy="76200"/>
          </a:xfrm>
          <a:prstGeom prst="rect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29806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sz="21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09650" y="2865120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279844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梳理岗位任务清单</a:t>
            </a:r>
            <a:r>
              <a:rPr lang="en-US" altLang="zh-CN" sz="14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，本周选择</a:t>
            </a:r>
            <a:r>
              <a:rPr lang="en-US" altLang="zh-CN" sz="14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（高频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低风险）</a:t>
            </a:r>
            <a:endParaRPr lang="zh-CN" altLang="en-US" sz="14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09650" y="358838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57300" y="352171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梳理工作流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助手化，定义清晰人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-AI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合作边界，定义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endParaRPr lang="zh-CN" altLang="en-US" sz="14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457700" y="1917065"/>
            <a:ext cx="3143250" cy="32385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57700" y="1917065"/>
            <a:ext cx="314325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86300" y="229806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21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4686300" y="305054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933950" y="298386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基建：数据收集、清洗、知识库管理</a:t>
            </a: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686300" y="364109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33950" y="357441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接口：安全、稳定、高效能供</a:t>
            </a:r>
            <a:r>
              <a:rPr lang="en-US" alt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lang="zh-CN" altLang="en-US"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686300" y="423164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33950" y="416496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持续沉淀分析</a:t>
            </a: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lang="zh-CN"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134350" y="1917065"/>
            <a:ext cx="3143250" cy="32385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34350" y="1917065"/>
            <a:ext cx="3143250" cy="762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62950" y="229806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</a:t>
            </a:r>
            <a:r>
              <a:rPr lang="en-US"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数仓</a:t>
            </a:r>
            <a:endParaRPr lang="zh-CN" altLang="en-US" sz="21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8362950" y="3050540"/>
            <a:ext cx="95250" cy="952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10600" y="298386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自动化、安全</a:t>
            </a:r>
            <a:r>
              <a:rPr lang="zh-CN"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lang="zh-CN" sz="135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不是单点工具实验，而是运营、数据策略、运维的协同机制。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66750" y="587756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1024255" y="442531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185545" y="437959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知识库建设（飞书、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本地）</a:t>
            </a:r>
            <a:endParaRPr lang="zh-CN" altLang="en-US" sz="14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016000" y="4801235"/>
            <a:ext cx="95250" cy="95250"/>
          </a:xfrm>
          <a:prstGeom prst="ellipse">
            <a:avLst/>
          </a:prstGeom>
          <a:solidFill>
            <a:srgbClr val="0A7C8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77290" y="475551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每周复盘</a:t>
            </a:r>
            <a:r>
              <a:rPr lang="en-US" altLang="zh-CN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对工作效能的提升效果，风险点，持续</a:t>
            </a:r>
            <a:r>
              <a:rPr lang="zh-CN" altLang="en-US" sz="1400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</a:t>
            </a:r>
            <a:endParaRPr lang="zh-CN" altLang="en-US" sz="1400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：整体</a:t>
            </a:r>
            <a:r>
              <a:rPr lang="zh-CN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</a:t>
            </a:r>
            <a:endParaRPr lang="zh-CN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4859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接下来不是做更多零散尝试，而是围绕任务、数据源、工作流、格式持续迭代。</a:t>
            </a:r>
            <a:endParaRPr sz="1875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52500" y="2085975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81100" y="23145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695450" y="22955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梳理任务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95450" y="2695575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盘点运营、数据策略、运维高频重复任务，按频率、风险、输入和输出清晰度排序。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29375" y="2085975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57975" y="23145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72325" y="22955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优化数据源准确性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172325" y="2695575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明确每个指标的数据来源、统计口径、时间窗口、异常边界，避免 AI 放大错误数据。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52500" y="3721735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181100" y="395033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695450" y="393128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明确工作流和格式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695450" y="4331335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固定触发方式、执行步骤、人工确认点、输出模板、失败处理方式。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429375" y="3721735"/>
            <a:ext cx="4762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657975" y="395033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172325" y="393128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持续迭代和团队融入</a:t>
            </a:r>
            <a:endParaRPr sz="180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172325" y="4331335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先从退费率播报样板扩展到日报、周报、客户风险提醒、运营复盘等场景。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3238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A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运营团队 AI 提效落地复盘</a:t>
            </a:r>
            <a:endParaRPr sz="1050" b="1">
              <a:solidFill>
                <a:srgbClr val="0A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53750" y="285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0000"/>
              </a:lnSpc>
              <a:buNone/>
              <a:defRPr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1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lang="en-US" sz="1125" b="1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6858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下一步计划：</a:t>
            </a:r>
            <a:r>
              <a:rPr 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协作验收</a:t>
            </a:r>
            <a:r>
              <a:rPr lang="zh-CN" altLang="en-US" sz="28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endParaRPr lang="zh-CN" altLang="en-US" sz="28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66750" y="127635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00150" y="1876425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47800" y="1809750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是否减少重复整理时间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00150" y="2400300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47800" y="2333625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是否让数据和信息更快被看见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00150" y="2924175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47800" y="2857500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是否让输出格式更稳定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200150" y="3448050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47800" y="3381375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是否保留人的判断和确认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200150" y="3971925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447800" y="3905250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是否能被复用到下一个任务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200150" y="4495800"/>
            <a:ext cx="95250" cy="95250"/>
          </a:xfrm>
          <a:prstGeom prst="ellipse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447800" y="4429125"/>
            <a:ext cx="6991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是否沉淀成团队可继承的方法</a:t>
            </a:r>
            <a:endParaRPr sz="18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0" y="2990850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EEF8F8"/>
          </a:solidFill>
          <a:ln w="9525">
            <a:solidFill>
              <a:srgbClr val="B7DCD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990850"/>
            <a:ext cx="66675" cy="1619250"/>
          </a:xfrm>
          <a:prstGeom prst="rect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77050" y="3162300"/>
            <a:ext cx="3714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退费率播报只是起点。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真正的目标，是让 AI 从个人尝试变成团队工作流的一部分。</a:t>
            </a:r>
            <a:endParaRPr sz="16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6191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帮助运营、数据策略更快发现问题、更稳处理问题、更高效复盘问题。</a:t>
            </a:r>
            <a:endParaRPr sz="1275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66750" y="6057900"/>
            <a:ext cx="108585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3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4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5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6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7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8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9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0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1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2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3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4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5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6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7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8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19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0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1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2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3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4.xml><?xml version="1.0" encoding="utf-8"?>
<p:tagLst xmlns:p="http://schemas.openxmlformats.org/presentationml/2006/main">
  <p:tag name="KSO_WM_DIAGRAM_VIRTUALLY_FRAME" val="{&quot;height&quot;:120,&quot;left&quot;:55.5,&quot;top&quot;:187.5,&quot;width&quot;:817.5}"/>
</p:tagLst>
</file>

<file path=ppt/tags/tag25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26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27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28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29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0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1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2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3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4.xml><?xml version="1.0" encoding="utf-8"?>
<p:tagLst xmlns:p="http://schemas.openxmlformats.org/presentationml/2006/main">
  <p:tag name="KSO_WM_DIAGRAM_VIRTUALLY_FRAME" val="{&quot;height&quot;:291,&quot;left&quot;:63,&quot;top&quot;:139.5,&quot;width&quot;:795}"/>
</p:tagLst>
</file>

<file path=ppt/tags/tag35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36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37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38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39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0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1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2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3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4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5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6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7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8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49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50.xml><?xml version="1.0" encoding="utf-8"?>
<p:tagLst xmlns:p="http://schemas.openxmlformats.org/presentationml/2006/main">
  <p:tag name="KSO_WM_DIAGRAM_VIRTUALLY_FRAME" val="{&quot;height&quot;:263.25,&quot;left&quot;:75,&quot;top&quot;:159.75,&quot;width&quot;:814}"/>
</p:tagLst>
</file>

<file path=ppt/tags/tag51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2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3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4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5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6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7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8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59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60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61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ags/tag62.xml><?xml version="1.0" encoding="utf-8"?>
<p:tagLst xmlns:p="http://schemas.openxmlformats.org/presentationml/2006/main">
  <p:tag name="KSO_WM_DIAGRAM_VIRTUALLY_FRAME" val="{&quot;height&quot;:247.5,&quot;left&quot;:94.5,&quot;top&quot;:142.5,&quot;width&quot;:570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WPS 演示</Application>
  <PresentationFormat>Converted Presentation</PresentationFormat>
  <Paragraphs>354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EcoCC</cp:lastModifiedBy>
  <cp:revision>8</cp:revision>
  <dcterms:created xsi:type="dcterms:W3CDTF">2026-06-22T01:51:00Z</dcterms:created>
  <dcterms:modified xsi:type="dcterms:W3CDTF">2026-06-22T03:13:17Z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B46B0C0A0DF64A0A9FF908962A438BB4_12</vt:lpwstr>
  </property>
</Properties>
</file>