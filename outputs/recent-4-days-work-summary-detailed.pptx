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e313ebf8242cd" /><Relationship Type="http://schemas.openxmlformats.org/officeDocument/2006/relationships/extended-properties" Target="/docProps/app.xml" Id="R93b1b94037ff41bd" /><Relationship Type="http://schemas.openxmlformats.org/officeDocument/2006/relationships/officeDocument" Target="/ppt/presentation.xml" Id="R36f06037b2c3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588cb7389470c"/>
  </p:sldMasterIdLst>
  <p:notesMasterIdLst>
    <p:notesMasterId xmlns:r="http://schemas.openxmlformats.org/officeDocument/2006/relationships" r:id="Re52645ec0ff54886"/>
  </p:notesMasterIdLst>
  <p:sldIdLst>
    <p:sldId xmlns:r="http://schemas.openxmlformats.org/officeDocument/2006/relationships" id="256" r:id="Rc306c975508240bf"/>
    <p:sldId xmlns:r="http://schemas.openxmlformats.org/officeDocument/2006/relationships" id="257" r:id="Radf3d9265ac04dd0"/>
    <p:sldId xmlns:r="http://schemas.openxmlformats.org/officeDocument/2006/relationships" id="258" r:id="R05d1fd5145b042a0"/>
    <p:sldId xmlns:r="http://schemas.openxmlformats.org/officeDocument/2006/relationships" id="259" r:id="R15af43ab06d44d88"/>
    <p:sldId xmlns:r="http://schemas.openxmlformats.org/officeDocument/2006/relationships" id="260" r:id="R4fdc2a630cb0433c"/>
    <p:sldId xmlns:r="http://schemas.openxmlformats.org/officeDocument/2006/relationships" id="261" r:id="Rcd065b8970d545ea"/>
    <p:sldId xmlns:r="http://schemas.openxmlformats.org/officeDocument/2006/relationships" id="262" r:id="R330586d293824680"/>
    <p:sldId xmlns:r="http://schemas.openxmlformats.org/officeDocument/2006/relationships" id="263" r:id="R80fd0828458f42f9"/>
    <p:sldId xmlns:r="http://schemas.openxmlformats.org/officeDocument/2006/relationships" id="264" r:id="Rdbc6138c6e5248e2"/>
    <p:sldId xmlns:r="http://schemas.openxmlformats.org/officeDocument/2006/relationships" id="265" r:id="R3d851187a5e344a7"/>
    <p:sldId xmlns:r="http://schemas.openxmlformats.org/officeDocument/2006/relationships" id="266" r:id="R4457bf1209b54b1f"/>
    <p:sldId xmlns:r="http://schemas.openxmlformats.org/officeDocument/2006/relationships" id="267" r:id="R95c4e0acc5a74cc0"/>
    <p:sldId xmlns:r="http://schemas.openxmlformats.org/officeDocument/2006/relationships" id="268" r:id="R5591ef2b51da47b3"/>
    <p:sldId xmlns:r="http://schemas.openxmlformats.org/officeDocument/2006/relationships" id="269" r:id="Raf4748d95f844fe4"/>
    <p:sldId xmlns:r="http://schemas.openxmlformats.org/officeDocument/2006/relationships" id="270" r:id="R38b900f87de14e94"/>
    <p:sldId xmlns:r="http://schemas.openxmlformats.org/officeDocument/2006/relationships" id="271" r:id="R966fbb999aad468a"/>
    <p:sldId xmlns:r="http://schemas.openxmlformats.org/officeDocument/2006/relationships" id="272" r:id="R0b72dd3765d44a07"/>
    <p:sldId xmlns:r="http://schemas.openxmlformats.org/officeDocument/2006/relationships" id="273" r:id="R8494c5f4c5fe42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2fa6fb96f43ea" /><Relationship Type="http://schemas.openxmlformats.org/officeDocument/2006/relationships/slideMaster" Target="/ppt/slideMasters/slideMaster1.xml" Id="Rdd3588cb7389470c" /><Relationship Type="http://schemas.openxmlformats.org/officeDocument/2006/relationships/notesMaster" Target="/ppt/notesMasters/notesMaster1.xml" Id="Re52645ec0ff54886" /><Relationship Type="http://schemas.openxmlformats.org/officeDocument/2006/relationships/presProps" Target="/ppt/presProps.xml" Id="R204c5504a7a448f0" /><Relationship Type="http://schemas.openxmlformats.org/officeDocument/2006/relationships/tableStyles" Target="/ppt/tableStyles.xml" Id="R71b0ae29701a4da7" /><Relationship Type="http://schemas.openxmlformats.org/officeDocument/2006/relationships/slide" Target="/ppt/slides/slide1.xml" Id="Rc306c975508240bf" /><Relationship Type="http://schemas.openxmlformats.org/officeDocument/2006/relationships/slide" Target="/ppt/slides/slide2.xml" Id="Radf3d9265ac04dd0" /><Relationship Type="http://schemas.openxmlformats.org/officeDocument/2006/relationships/slide" Target="/ppt/slides/slide3.xml" Id="R05d1fd5145b042a0" /><Relationship Type="http://schemas.openxmlformats.org/officeDocument/2006/relationships/slide" Target="/ppt/slides/slide4.xml" Id="R15af43ab06d44d88" /><Relationship Type="http://schemas.openxmlformats.org/officeDocument/2006/relationships/slide" Target="/ppt/slides/slide5.xml" Id="R4fdc2a630cb0433c" /><Relationship Type="http://schemas.openxmlformats.org/officeDocument/2006/relationships/slide" Target="/ppt/slides/slide6.xml" Id="Rcd065b8970d545ea" /><Relationship Type="http://schemas.openxmlformats.org/officeDocument/2006/relationships/slide" Target="/ppt/slides/slide7.xml" Id="R330586d293824680" /><Relationship Type="http://schemas.openxmlformats.org/officeDocument/2006/relationships/slide" Target="/ppt/slides/slide8.xml" Id="R80fd0828458f42f9" /><Relationship Type="http://schemas.openxmlformats.org/officeDocument/2006/relationships/slide" Target="/ppt/slides/slide9.xml" Id="Rdbc6138c6e5248e2" /><Relationship Type="http://schemas.openxmlformats.org/officeDocument/2006/relationships/slide" Target="/ppt/slides/slide10.xml" Id="R3d851187a5e344a7" /><Relationship Type="http://schemas.openxmlformats.org/officeDocument/2006/relationships/slide" Target="/ppt/slides/slide11.xml" Id="R4457bf1209b54b1f" /><Relationship Type="http://schemas.openxmlformats.org/officeDocument/2006/relationships/slide" Target="/ppt/slides/slide12.xml" Id="R95c4e0acc5a74cc0" /><Relationship Type="http://schemas.openxmlformats.org/officeDocument/2006/relationships/slide" Target="/ppt/slides/slide13.xml" Id="R5591ef2b51da47b3" /><Relationship Type="http://schemas.openxmlformats.org/officeDocument/2006/relationships/slide" Target="/ppt/slides/slide14.xml" Id="Raf4748d95f844fe4" /><Relationship Type="http://schemas.openxmlformats.org/officeDocument/2006/relationships/slide" Target="/ppt/slides/slide15.xml" Id="R38b900f87de14e94" /><Relationship Type="http://schemas.openxmlformats.org/officeDocument/2006/relationships/slide" Target="/ppt/slides/slide16.xml" Id="R966fbb999aad468a" /><Relationship Type="http://schemas.openxmlformats.org/officeDocument/2006/relationships/slide" Target="/ppt/slides/slide17.xml" Id="R0b72dd3765d44a07" /><Relationship Type="http://schemas.openxmlformats.org/officeDocument/2006/relationships/slide" Target="/ppt/slides/slide18.xml" Id="R8494c5f4c5fe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525e6e7f5a48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2bbc9bd6043d8" /><Relationship Type="http://schemas.openxmlformats.org/officeDocument/2006/relationships/notesMaster" Target="/ppt/notesMasters/notesMaster1.xml" Id="R629936b7081f41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d24ece2ab4b23" /><Relationship Type="http://schemas.openxmlformats.org/officeDocument/2006/relationships/notesMaster" Target="/ppt/notesMasters/notesMaster1.xml" Id="Ree695814b55d41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dfdecef24e42ca" /><Relationship Type="http://schemas.openxmlformats.org/officeDocument/2006/relationships/notesMaster" Target="/ppt/notesMasters/notesMaster1.xml" Id="R4075f11d57ad48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a706f91813462e" /><Relationship Type="http://schemas.openxmlformats.org/officeDocument/2006/relationships/notesMaster" Target="/ppt/notesMasters/notesMaster1.xml" Id="Ra89437b125e74f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de6ad0c54470f" /><Relationship Type="http://schemas.openxmlformats.org/officeDocument/2006/relationships/notesMaster" Target="/ppt/notesMasters/notesMaster1.xml" Id="R76a034f94cbc4b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666c07473d4c3f" /><Relationship Type="http://schemas.openxmlformats.org/officeDocument/2006/relationships/notesMaster" Target="/ppt/notesMasters/notesMaster1.xml" Id="R9142aa54d5304e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7ab39f5f044927" /><Relationship Type="http://schemas.openxmlformats.org/officeDocument/2006/relationships/notesMaster" Target="/ppt/notesMasters/notesMaster1.xml" Id="Rc66e95ccf877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7aba9f09848e4" /><Relationship Type="http://schemas.openxmlformats.org/officeDocument/2006/relationships/notesMaster" Target="/ppt/notesMasters/notesMaster1.xml" Id="R74a098941d6c40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0228966bd44fa" /><Relationship Type="http://schemas.openxmlformats.org/officeDocument/2006/relationships/notesMaster" Target="/ppt/notesMasters/notesMaster1.xml" Id="R062607372c82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127d94046a4016" /><Relationship Type="http://schemas.openxmlformats.org/officeDocument/2006/relationships/notesMaster" Target="/ppt/notesMasters/notesMaster1.xml" Id="Ra6919159ba444e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b37ed466824d0b" /><Relationship Type="http://schemas.openxmlformats.org/officeDocument/2006/relationships/notesMaster" Target="/ppt/notesMasters/notesMaster1.xml" Id="R6f548a01277d47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dc159781e941fc" /><Relationship Type="http://schemas.openxmlformats.org/officeDocument/2006/relationships/notesMaster" Target="/ppt/notesMasters/notesMaster1.xml" Id="Rad20a189f09b4c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2ddcefeb8a4344" /><Relationship Type="http://schemas.openxmlformats.org/officeDocument/2006/relationships/notesMaster" Target="/ppt/notesMasters/notesMaster1.xml" Id="R5924f89457e149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5742a069d142a8" /><Relationship Type="http://schemas.openxmlformats.org/officeDocument/2006/relationships/notesMaster" Target="/ppt/notesMasters/notesMaster1.xml" Id="Rfe4f7ecf34bc49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f2ff4d2b664fc5" /><Relationship Type="http://schemas.openxmlformats.org/officeDocument/2006/relationships/notesMaster" Target="/ppt/notesMasters/notesMaster1.xml" Id="R924a87ed34d448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8035e15da54094" /><Relationship Type="http://schemas.openxmlformats.org/officeDocument/2006/relationships/notesMaster" Target="/ppt/notesMasters/notesMaster1.xml" Id="Re79e190d760f45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4f803ccf314b8f" /><Relationship Type="http://schemas.openxmlformats.org/officeDocument/2006/relationships/notesMaster" Target="/ppt/notesMasters/notesMaster1.xml" Id="R771aec76803949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a9459daa944c01" /><Relationship Type="http://schemas.openxmlformats.org/officeDocument/2006/relationships/notesMaster" Target="/ppt/notesMasters/notesMaster1.xml" Id="Rae3cc1ba8d35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979ee9ab8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7b17848f04071" /><Relationship Type="http://schemas.openxmlformats.org/officeDocument/2006/relationships/slideLayout" Target="/ppt/slideLayouts/slideLayout1.xml" Id="Rd382b3e68a7741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2b3e68a7741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177a7cf1f4f64" /><Relationship Type="http://schemas.openxmlformats.org/officeDocument/2006/relationships/notesSlide" Target="/ppt/notesSlides/notesSlide1.xml" Id="Rd1dcc824ceba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9e0e1a19647eb" /><Relationship Type="http://schemas.openxmlformats.org/officeDocument/2006/relationships/notesSlide" Target="/ppt/notesSlides/notesSlide2.xml" Id="R3e47a6ac0e8b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ec26767a449ee" /><Relationship Type="http://schemas.openxmlformats.org/officeDocument/2006/relationships/notesSlide" Target="/ppt/notesSlides/notesSlide3.xml" Id="Re50dedd6156f45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90897e914748" /><Relationship Type="http://schemas.openxmlformats.org/officeDocument/2006/relationships/notesSlide" Target="/ppt/notesSlides/notesSlide4.xml" Id="R7bc5b51b1c01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ab968cf9a449b" /><Relationship Type="http://schemas.openxmlformats.org/officeDocument/2006/relationships/notesSlide" Target="/ppt/notesSlides/notesSlide5.xml" Id="R33a62bceafd1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9be7409784c47" /><Relationship Type="http://schemas.openxmlformats.org/officeDocument/2006/relationships/notesSlide" Target="/ppt/notesSlides/notesSlide6.xml" Id="Rcd1ddb8ec53f45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63eb627744b4" /><Relationship Type="http://schemas.openxmlformats.org/officeDocument/2006/relationships/notesSlide" Target="/ppt/notesSlides/notesSlide7.xml" Id="R2432bc5a6d1e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5f13d9c454e9b" /><Relationship Type="http://schemas.openxmlformats.org/officeDocument/2006/relationships/notesSlide" Target="/ppt/notesSlides/notesSlide8.xml" Id="R23ae79f0740d4f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ff862abea4748" /><Relationship Type="http://schemas.openxmlformats.org/officeDocument/2006/relationships/notesSlide" Target="/ppt/notesSlides/notesSlide9.xml" Id="Rcffff229eb034b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9a0537e5148fe" /><Relationship Type="http://schemas.openxmlformats.org/officeDocument/2006/relationships/notesSlide" Target="/ppt/notesSlides/notesSlide10.xml" Id="R13c84c1dde8848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62411f19146d7" /><Relationship Type="http://schemas.openxmlformats.org/officeDocument/2006/relationships/notesSlide" Target="/ppt/notesSlides/notesSlide11.xml" Id="Raa76ab2f8d774e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ac7bc7a2e4a83" /><Relationship Type="http://schemas.openxmlformats.org/officeDocument/2006/relationships/notesSlide" Target="/ppt/notesSlides/notesSlide12.xml" Id="R8fd8e88f60db4b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ed7d074ab49a2" /><Relationship Type="http://schemas.openxmlformats.org/officeDocument/2006/relationships/notesSlide" Target="/ppt/notesSlides/notesSlide13.xml" Id="R73fe67cb767445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6a4ba925f4abd" /><Relationship Type="http://schemas.openxmlformats.org/officeDocument/2006/relationships/notesSlide" Target="/ppt/notesSlides/notesSlide14.xml" Id="Rc65d19ec5fbc40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eaf102d7c4801" /><Relationship Type="http://schemas.openxmlformats.org/officeDocument/2006/relationships/notesSlide" Target="/ppt/notesSlides/notesSlide15.xml" Id="R0fa17c6079d240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b4818903b4480" /><Relationship Type="http://schemas.openxmlformats.org/officeDocument/2006/relationships/notesSlide" Target="/ppt/notesSlides/notesSlide16.xml" Id="R681f0376dd3b4f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76bd996474259" /><Relationship Type="http://schemas.openxmlformats.org/officeDocument/2006/relationships/notesSlide" Target="/ppt/notesSlides/notesSlide17.xml" Id="Rba784205e46141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e840c704140c0" /><Relationship Type="http://schemas.openxmlformats.org/officeDocument/2006/relationships/notesSlide" Target="/ppt/notesSlides/notesSlide18.xml" Id="R204408717d5b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807E5-49D4-4F21-BF5C-84527FC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50458-9C98-409D-8289-B8C8DDAC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472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D6763-AD3B-40EA-A419-087AAB8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95350"/>
            <a:ext cx="2781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E3233-EBC6-401F-AA27-EAE9702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B3C"/>
                </a:solidFill>
              </a:defRPr>
            </a:pPr>
            <a:r>
              <a:rPr sz="1350" b="1">
                <a:solidFill>
                  <a:srgbClr val="B85B3C"/>
                </a:solidFill>
              </a:rPr>
              <a:t>经营协作复盘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EE9A-FFF3-4EB1-A2EB-60E830D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81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最近4天</a:t>
            </a:r>
          </a:p>
          <a:p xmlns:a="http://schemas.openxmlformats.org/drawingml/2006/main">
            <a:pPr algn="l"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工作总结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1E6F8-C84B-476A-AD99-7782BCC8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6A"/>
                </a:solidFill>
              </a:defRPr>
            </a:pPr>
            <a:r>
              <a:rPr sz="1650" b="0">
                <a:solidFill>
                  <a:srgbClr val="65706A"/>
                </a:solidFill>
              </a:rPr>
              <a:t>2026.06.19 - 2026.06.22 | 全量细化版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78DF7-8C2F-4DAC-9D49-8564A16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从工具执行，走向可复用的公司经营协作系统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EDC6F-242F-4A54-8C00-958074D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旧版 4 页 PPT 保留，本版重新设计为 18 页留档复盘。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09459-F065-4C2C-99DF-3B7DCF30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430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202A"/>
                </a:solidFill>
              </a:defRPr>
            </a:pPr>
            <a:r>
              <a:rPr sz="3150" b="1">
                <a:solidFill>
                  <a:srgbClr val="16202A"/>
                </a:solidFill>
              </a:rPr>
              <a:t>18页</a:t>
            </a:r>
          </a:p>
          <a:p xmlns:a="http://schemas.openxmlformats.org/drawingml/2006/main">
            <a:pPr algn="ctr">
              <a:defRPr sz="3150" b="1">
                <a:solidFill>
                  <a:srgbClr val="16202A"/>
                </a:solidFill>
              </a:defRPr>
            </a:pPr>
            <a:r>
              <a:rPr sz="3150" b="1">
                <a:solidFill>
                  <a:srgbClr val="16202A"/>
                </a:solidFill>
              </a:rPr>
              <a:t>全量复盘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94FF7-2809-47B5-A4BC-5E1986F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业务复盘 / 自动化 / 知识库 / 工程资产 / 环境可观测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967E5-0500-46A1-8C16-CD8D192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EC8B6-88E9-4FCA-A034-C0A9669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生成方式：@oai/artifact-tool | 数据来源：本机 rollout summaries，不额外联网</a:t>
            </a:r>
          </a:p>
        </p:txBody>
      </p:sp>
    </p:spTree>
    <p:extLst>
      <p:ext uri="{BB962C8B-B14F-4D97-AF65-F5344CB8AC3E}">
        <p14:creationId xmlns:p14="http://schemas.microsoft.com/office/powerpoint/2010/main" val="1262147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FA68A-DD16-497D-854B-1A7720B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82708-6B16-4261-AC32-04F3C7A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8FB59-1065-4085-867B-EFB362E0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2B127-2193-41CF-901D-FCD05AD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4天主线：从单点执行到协作系统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848EB-7660-4C24-B5BC-485730C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这四天不是零散任务，而是在持续把“能做一次”升级成“下次可复用、可验证、可沉淀”。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50FC-1655-4299-8004-24F1EE86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C4485-EF42-42CE-B35E-17C4AF3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8417C-BD18-47FE-9849-53CB133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工作流产品化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A8BB5-E810-40E8-9C0F-18EF1C0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105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飞书 AI 日报、Base 回写、钉钉退款率群聊推送、ZenTao API 查询等流程被固化为 skill、文档或脚本。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D5402-5FF2-430F-8BE5-3ECDE23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4DB2-F390-4F47-BF6F-73F49B3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9C9D6-8C0E-4178-97DE-6F2CD774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经营知识基座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46A9E-3EB9-4B07-9ECF-54ADDF9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05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从客户风险、运营驾驶舱到九大公司模块，明确 Codex 的长期角色：个人合伙人咨询师与公司经营协作伙伴。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5785B-2960-44E6-8432-4C83AF5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3429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C9DFD-D386-4867-ACA8-468106AE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6667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273B1-9C67-4489-BD53-DE8938C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工程可交付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FF044-1952-40C1-941C-B39FC2B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3105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仓库中文化、自动化资产入库、setup.bat、一键环境、用量看板和 PowerShell 更新，让工作区更能长期运行。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6A454-7A72-4392-B7D8-123197D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核心变化：交付不再只看“有没有完成”，还看有没有留下路径、验证信号、复用材料和下一步责任。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E9481-8B40-48D3-A051-D910739D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605AD-42B0-4F68-B34B-E59BA94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766354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AC9FD-BFE1-404A-9454-54328D1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253C2-E4C3-42B3-B3EE-7F970623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工作地图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E7792-916D-44E4-B672-EF7B007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5023A-D28F-49B4-8AE8-F769F619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五类工作流归档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6E821-67E5-45A4-A8C2-1C7E84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按经营价值归类，而不是按工具或聊天顺序堆叠。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9AAC1-5C0D-4E39-8A07-1919258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BCB1E-E7D9-4EA1-840E-5B73A231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058-637F-4B22-892E-FD21BA5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业务复盘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ECF78-C980-4868-903E-4F1B185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859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客户台账、退款率、产品手册、读书/学习素材，支撑运营判断。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D6176-C330-4F1C-AE48-7C003D8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D2F5E-2AA0-4D8D-B503-C0779532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97160-4380-443B-9AB4-B3BFF855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自动化/机器人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22D76-EFBB-47BC-967E-91C6C58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289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钉钉机器人、Stream、DWS、DataFinder 报表推送，支撑日常执行。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5C76E-5D70-406E-B0F7-81D860E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62B61-E15C-411A-A5EB-62DF2890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A00EE-505B-465C-B139-85D6E2A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知识库/skill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4AE17-7276-4722-8B33-6021E55F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718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飞书日报、DingTalk、ZenTao、Tencent Docs、公司 copilot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6FF6F-18FC-4233-8FC5-EC36FD7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AD589-E6C9-4364-BD04-1823DF5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D7C6E-224A-47F8-84CD-40A4224E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工程资产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81F19-EF21-4590-AFB4-EED715C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1482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仓库中文化、脚本入库、测试验证、secret 处理、setup.bat。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7B3CC-8B13-4682-A76D-17B1BB2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0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D853A-3D91-4E81-8626-FA23663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33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51842-8A0D-4992-9A69-87EB8A4E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环境与可观测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304DA-D651-439F-B128-F0088C8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577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Codex 用量看板、PowerShell 7.6.3、进程排查、路径约定。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3D017-E035-41A5-A605-BBD179F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69C7D-7707-4504-A9C1-6D8AD48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664153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F7E620-20A3-45C1-AC27-947767B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A8164-CEA7-4A09-9251-DAD9D7C0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6/19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FF3FE-CEDE-4526-A793-A92B91A4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5BB18-A71C-4510-A5AA-D651C1BF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高密度执行日：多个系统同时打通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BF21B-6FD7-46EA-A51F-2FAFF2F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6/19 的重点是把外部系统访问、业务数据读取和自动化消息链路跑通。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EEFD5-7655-4930-90C1-B547B55D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28DE8-0141-402D-8EC3-24635AFD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D9F19-5691-4412-9823-56588A6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D80C9-0EBB-4C90-BF1B-96858CD0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9F1D8-6FD8-48D8-8074-89261D08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E6A97-C292-49E2-BEFE-0E1773FD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B241B-1E9B-433E-B60A-739A156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96A2-5CD6-44B8-999C-E8F841B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9990D-7B9F-4C92-BCA3-388ACF4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A7BBA-995D-459C-93CC-F9FC533A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飞书 / 知识库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4C0D6-0031-4E9A-B7CC-EC519F7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7E9EA-C291-4E76-9AB8-AF36332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创建个人知识库节点；建立 AI 日报；Base 回写链接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4EFA7-3DFE-4963-88A6-CCB35A21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31C3F-A86E-4422-A61A-66DEBCF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AI日报 skill、同日复用规则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47BEA-AC9D-4995-857B-DFBCD96F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C755A-6135-49AA-837A-0AC6140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wiki +node-get、Base row readback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8BDAD-8853-41A8-A155-EC15F1D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4EE43-C9DB-4B89-A680-D5D11531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钉钉 / 机器人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6B5E6-11F2-464B-A883-416140D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8F6D9-0860-4B54-AA41-5FB8E58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单聊回复、全群总结、Stream 配置、群聊推送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79A86-9C1D-48E5-BBCE-954377B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6D809-FA56-4153-8BA6-3BEA7E3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dingtalk-app-dev skill、v1.0.3 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F22AB-67F3-448C-AE12-19E80B8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575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83EC0-DFBE-45B9-B075-42162413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AI助手组实发、日志 groupCount=1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80690-69E5-4292-A4E2-1494797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5A040-7DDE-41E4-A805-7979016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业务数据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EFF1A-3B72-4180-AD0B-4CAF1A62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38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7EC663-B424-4F9F-93B1-247DC36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DataFinder 查退款率；客户台账近两周复盘；ZenTao 鉴云计划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CF8854-9E6C-48FC-B24B-85D8FDF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FA6683-5363-40EC-863C-D0DF82F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52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报表、客户问题清单、计划任务同步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55DDE3-6330-4EBD-A951-D8A934E7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028313-0926-472B-90EF-6E5C3D6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529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API / DWS / docs fetch 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CE823D-702C-4A32-8257-9EF9485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A32698-162D-4897-B1E6-23BE0854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产品材料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8C778-C30B-4109-AB6B-B3D2D88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C3FA7C-9B8F-431B-8B5E-7CA600B5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339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读取七鱼 31 份 PDF 产品手册，做覆盖式总结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FBEC98-02D3-4AF3-8292-718CBE1D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0AEBC4-F1B6-4219-8537-C1F9F476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产品能力总览和阅读方法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83BAA1-7213-45CD-B813-318AF322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8FB747-1188-4D89-B4C8-46996B4A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31 PDFs 全量提取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F81A9F-16A6-42D9-921C-76DEEF44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EC0C99-83B6-47FE-88BD-A35DE363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747733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3A30B-A3AF-43E0-AFD5-95A73EFD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45AB8-ED72-479E-A335-D40290E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飞书 / 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C4C4-3B21-4013-96DC-EA68B804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2F9CF-BFAA-41B1-B415-BFD51EF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飞书日报与 Base 回写：从一次写文档到可复用机制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518C-2863-4E1F-B105-7AB09272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用户想每天总结今日和 Codex 工作，所以重点不是写一篇日报，而是沉淀可重复流程。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86C4D-D1DB-4D1E-93AC-CF68DCA2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08ADD-EEC1-487A-B792-ACBF84BB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B3C"/>
                </a:solidFill>
              </a:defRPr>
            </a:pPr>
            <a:r>
              <a:rPr sz="1500" b="1">
                <a:solidFill>
                  <a:srgbClr val="B85B3C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7D853-8976-481C-B132-944465B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在 AI工作日报 容器下创建或复用当天文档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标题约定：AI日报 | YYYYMMDD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Base 表记录创建日期与文档地址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C00A9-A85D-4B33-AD5E-3796C31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4ACEF-12EE-4C7D-A9BC-C60F25D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773"/>
                </a:solidFill>
              </a:defRPr>
            </a:pPr>
            <a:r>
              <a:rPr sz="1500" b="1">
                <a:solidFill>
                  <a:srgbClr val="1F7773"/>
                </a:solidFill>
              </a:rPr>
              <a:t>关键动作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DA4C5-9AAD-4C16-8675-4F47E402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解析 wiki 节点发现 obj_type=bitable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定位同日 docx 并覆盖正文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用文件 JSON payload 创建/更新 Base 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1FA1-EF76-43B6-8AA8-3DF0ED2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DCEF7-92A4-421A-B83D-D301AB9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A87"/>
                </a:solidFill>
              </a:defRPr>
            </a:pPr>
            <a:r>
              <a:rPr sz="1500" b="1">
                <a:solidFill>
                  <a:srgbClr val="526A87"/>
                </a:solidFill>
              </a:rPr>
              <a:t>产出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D889B-1C8A-405A-A4FF-8999E9A6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本地 skill：ai-daily-report-feishu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正文结构固定为 概览 + 细节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记录 Base 链接文本会被平台规范化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362C8-F15C-4876-9C7F-28BAA2FD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验证信号：wiki +node-get 返回 bitable；Base table/field/list/readback 均完成；同日文档复用规则写入 skill。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D8195-CB1D-4DDB-A052-A6E26B11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7CC8A-2748-41E0-94AC-E759418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343170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FEEE8-3D18-4688-9EF7-F18F4D3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1BFA-1A10-4827-A680-6ACCB5B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钉钉 /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D82CF-8088-401F-A1B7-29AE73B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0816E-C32C-41CC-AA89-917992F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钉钉机器人：从能回复到能读真实群、能推真实群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8E898-A762-429F-B976-049E63A6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这一组工作解决的是“LLM 不能假装看过群聊”的执行可靠性问题。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D9A4F-77E9-4A88-B32B-222FDAF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C9D00-215D-43DE-BB1D-C9FBB56E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66567-1388-4E4D-9F3E-3B7A72A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DF1DE-31FA-4D45-9366-A7327F8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56829-5944-447F-B51E-B129ACA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8CC8-ABF3-4E65-8B61-F824985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124AE-30B5-4CE4-8035-EEDA2D20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6EDAF-73B4-4FD1-837B-000660C9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80085-9F86-4EF1-AB38-E3B466A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CF11D-F2B0-42CC-9DE7-302AE79E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单聊机器人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D3A5-B9AC-429B-9833-2EF437D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5AD25-63F5-4FDB-9B34-1FBCCD2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配置 DINGTALK_REPLY_MODE=single 与模型参数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E61A5-72A6-4A97-A0EF-0E59F94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161A9-7D0C-45F6-BBE2-0A36789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单聊直回路径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A61C0-E61E-4EA6-AE3D-03ABB715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00133-5BC2-4FCE-BE7B-ECCFC05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使用 send-by-bot 对 senderId 回复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362C6-35D3-48FD-B61C-F93C5DB3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DABA2-AF33-4102-BD18-F30AA57E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全群总结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1384D-14FB-4EB2-B99E-77D9532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5D19B-20E4-49BF-8521-25EF99E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用户要求总结所有群，不是单一群；改走 DWS 真实读取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326B0-B51C-4CA2-8D99-CD04295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4AAED-40EC-42F4-84B1-42B2C2A3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群消息总结能力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1144D-B00B-4A1E-9250-8419722B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7D660-04A7-4F03-A8E6-A6D78F6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避免 LLM 空答“我看不到”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291D0-E665-4730-B9BE-C079A590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EEE43-BA9D-418B-83CA-D60CFEA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Stream 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71C27F-21E3-4FFF-8476-09C76B8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10B4F-C73F-4F5E-BC95-8327D92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记录创建应用→机器人→Stream→网关/服务器连接顺序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28E163-6416-40ED-A9A5-B0F4E3B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2C35BB-D6D5-43FA-98D5-2E4F539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README 与 dingtalk-app-dev skill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CF2647-2974-4FD5-B7C3-403F984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33DF11-6AEB-426D-AC29-65D5C5F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定位订阅失败原因：本地网关未起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E66E7B-0DD2-4F1D-89B9-8700B21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07B33-6FE1-4305-A331-447F256D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群聊推送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E8BEE2-A9B0-4116-94D7-EEBC073B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8D3E95-37CD-4C2D-9FDE-8C65BFC3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退款率报告从单聊切到 AI助手组 openConversationId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70DEE5-97A9-47B6-91DD-883EA2D1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B2141C-CC71-49BA-95F1-88D5009F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v1.0.3 产品文档和 changelog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E4774F-C801-4711-B3DF-472C4A0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FD991A-48FD-4FC8-AD91-97B001DE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日志 deliveryTarget=group, singleUserCount=0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F5DE37-A4D7-4DD6-BD6D-FE199E3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D584B8-9AD7-4D06-93C7-31C697E2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971188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F02A6-664D-40B7-A8EE-ADBA0CA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3F7FF-54C6-48EB-AFFB-49495F7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DataFinder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A8244-372C-40F5-8686-45A8A69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53057-1949-4E78-BF2C-EAAB129C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退款率日报：从数据查询到钉钉可见报表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36C95-9780-4BC1-9C40-DDE343E9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这条线把 DataFinder 指标、DWS 发送和钉钉客户端渲染问题连成了闭环。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0E32A-7284-452E-864C-AFB9A96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7479A-B501-4011-92A4-F9AFD47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012E0-DE94-48E9-8E9F-053A028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数据侧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05803-A6F2-4B50-B6BD-A8E5E406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先读 DataFinder 文档和 skill；确认 refund_back / order_suc_back 的 amount 元数据；默认完整覆盖所有企业，不只示例一行。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116AB-AB34-4119-8E27-CC9DDA98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C13A8-8E17-48F9-9A1C-49BDF7EC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79F61-2449-4A47-ADBD-30B33B6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发送侧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B668-BAAD-47FE-8A77-7F41D239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DWS API success 不等于客户端可读；用户反馈“只有标题”后，改用更适合报表的文本/卡片表达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17F2E-BB95-40E1-A539-E90633D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8F735-1EF2-401E-A37C-D6C3C27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65D28-83A0-48F3-913F-EDDA2668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运营侧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C8E29-A3BF-4D2A-9CB8-9ACC7CF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把退款率日报沉淀为定时推送工作流，并在后续改造成 AI助手组群聊推送，避免单聊路径继续干扰。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478C2-EED4-46E9-9BBC-EECD09F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沉淀原则：报表交付的验证标准不是 API 返回成功，而是目标接收端真实可读。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7B060-BBA3-4439-98E3-F9378EE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87715-DDCB-4C66-BC87-84ED0EA1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417340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D0DBE-D935-4882-BBF8-7580E6AD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CD319-265D-490D-B137-FE7C821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ZenTao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E255-0CC5-497F-BEFD-3169C9BC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113D5-4948-48C9-B9B7-57869AD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ZenTao 鉴云计划：API 查询与 token 工作流固化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0058F-2724-4435-B84B-CE7D69CD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把产品计划查询从临时页面查看升级为 API 化、skill 化、环境变量化。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A8AA5-D17E-4BDD-A13B-7B0F767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0AEB4-CAF7-40B2-8CF0-3161AE0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2963-4837-4404-8D64-186B7C61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8E905-FBF9-4C60-8EB5-CEE81FE6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02C3E-B803-466F-AE2B-B0F68C8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5FF07-1B44-41CC-A27F-CCF5935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8B96C-83C5-4BA2-AE35-6FB7172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BD259-5D00-494B-BE2E-917AF5C2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10179-476B-43AE-8414-C17BD8E7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AE078-83EC-4233-84B5-F104D7B2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访问方式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B1D79-A2BF-4D9E-8024-E17F2D6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C6EE0-482C-45E6-836C-9E573C29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用户要求使用 ZenTao API；PowerShell 下用 curl.exe 避免 alias 干扰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EE50D-412E-47EA-8D16-0403584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777C1-793A-4914-A2E1-02208F19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API 调用路径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25370-0AB5-4209-9BF2-3E92EF9E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14633-03E0-49EB-A22F-8EC9F141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GET /api.php/v1/products/2/plans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5DD34-7A2D-4A87-BA12-09E14F52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A27AC-6777-4ED8-8AEE-23B24CA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token 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B0790-8CF4-4DCF-9207-32803EC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A5D72-3DAC-4338-9F57-66BDE321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用户希望后续复用 token；改为环境变量 ZENTAO_TOKEN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C61AF-9E7E-488C-B4C5-450101F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410CA-84CF-41A9-A103-6953D96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zentao 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EA499-8E05-48EE-82B9-9AB506D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5F845-F621-4C8A-AAF7-3A54C5C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不把 token 明文写入代码/文档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CF4DA-B7A6-4634-BC51-539689B7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EB6E8-A84E-4F60-B45F-6970907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计划查询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FCAE8C-844F-4FE5-B637-667BE8D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864E8-2495-432F-9038-D133939E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查询鉴云产品计划数量和列表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E6CC8-8398-41E9-ABEC-C32D50BC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8C1477-5F62-4EA4-BFEE-5B4CD387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计划列表结果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2C3F79-A9AE-40F1-B399-E84091C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B8DC50-57D5-440D-85ED-D590B9E1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产品 2 plans?limit=200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E88E55-94C6-4E43-8978-C4D59B9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69716A-A846-4772-9294-A1F2445D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0625 任务同步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358D7-7835-4F39-BB8B-92D2DA0C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4EF14A-71FA-4875-BCBC-5B97A9E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定位计划 id=42；读取 productplans/42 的 stories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4635A9-4528-42C7-AA8D-4E224626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7BD7B7-02CD-468D-A50A-379F9732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20260625 计划任务/需求同步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F6B966-24D4-4CAB-9748-B9FA7ED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60A8C8-1195-4B3C-9F16-9F4C517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tasks 接口 404 后改读计划详情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7BE122-3AB5-4F5E-952E-79A20046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6B1A97-2B97-4371-A717-30435EF1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38666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81AB0-8D4F-42AD-9176-BEDDF46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4B539-9BB4-497B-BD82-8A20C55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客户合作台账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74BF0-E72B-45D4-9F2C-CC946AA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8DBA5-EFFA-4470-8424-75C287A3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客户台账复盘：先定位原始台账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BD80A-F4E7-4810-8390-6A8F9AD2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按京东、奇富、宜享花三个客户台账，抽取近两周行动、问题和解决方案。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70B6E-D117-4BE2-B55B-ED202DB2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257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F7171-4FC2-4658-A3F8-4477898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B3C"/>
                </a:solidFill>
              </a:defRPr>
            </a:pPr>
            <a:r>
              <a:rPr sz="1500" b="1">
                <a:solidFill>
                  <a:srgbClr val="B85B3C"/>
                </a:solidFill>
              </a:rPr>
              <a:t>读取路径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859D0-F7A5-454B-ADD3-F0FF5CA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8384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入口：002 运营 | 客户合作台账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确认 obj_type=docx 且 has_child=true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枚举子节点定位京东金融、奇富数科、宜享花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271AB-26ED-4622-A899-2D6E1E1E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3257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E0C8D-2665-4DC2-AAA3-D5A14CF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773"/>
                </a:solidFill>
              </a:defRPr>
            </a:pPr>
            <a:r>
              <a:rPr sz="1500" b="1">
                <a:solidFill>
                  <a:srgbClr val="1F7773"/>
                </a:solidFill>
              </a:rPr>
              <a:t>总结方法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3492-AFE4-4436-A178-A05C4CE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28384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每家客户单独读取台账正文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按近两周主要行动、问题、解决方案归纳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避免只给总览，保留客户粒度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D41DA-0358-4B41-9632-86C034B0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57400"/>
            <a:ext cx="3257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5BD69-FFF3-4EDA-9357-36699302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A87"/>
                </a:solidFill>
              </a:defRPr>
            </a:pPr>
            <a:r>
              <a:rPr sz="1500" b="1">
                <a:solidFill>
                  <a:srgbClr val="526A87"/>
                </a:solidFill>
              </a:rPr>
              <a:t>经营价值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5C88B-8421-41D3-8CE7-CF56EF5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8384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把客户风险从聊天线索升级成可追踪台账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后续可接入客户风险雷达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为月度复盘和专题文档提供输入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8CD47-1627-461C-AC02-ED9A3590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验证信号：wiki nodes list 命中 001 京东金融、002 奇富数科、005 宜享花；docs +fetch 读取正文。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C0A8A-C694-4CA7-8023-B3B23FEE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5FFB2-6219-4D30-B639-F71B74C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92582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37C84-4B40-47B5-B094-66F8C47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76634-FBEB-459B-820E-BC3314A7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产品材料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2B292-B73A-4AB7-A987-FF68B4B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0D855-3AE0-41FF-9209-AD505E4D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七鱼产品手册：31 个 PDF 的覆盖式阅读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FD5D4-D1E4-45DA-AB3B-70C00DB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用户明确要求读完整个文件夹，所以执行标准是覆盖所有 PDF，而不是抽样。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AD169-3240-4AA9-901E-0EE209DD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54B82-7F70-4C51-8478-9774B16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E3810-E62B-4E42-AFC1-DE59647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8CD3A-5FD7-4AA7-A02F-0250E71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本地目录：C:\Users\Administrator\Desktop\七鱼大模型机器人产品手册；覆盖 01-产品介绍 到 31-Agent调试；共 31 个 PDF。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21FA1-D147-46F4-9110-4A8843F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6F6C1-A2C1-4F71-8E8C-C3E33EEC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502EC-6AB1-4279-999E-DF425AA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8B149-E2C2-43DE-8FF7-F16C7FDF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使用 bundled Python 读取中文 PDF；逐文件提取文本；做面向产品能力的总览，而非只列文件元数据。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50857-B206-49AC-AA5E-F91BE8F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429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F2800-0B8B-4AB8-AD9B-C040D247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667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F9E49-E695-4550-9E62-A6D5BF5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5EE6D-38E3-456F-AE43-215FA0F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105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形成对七鱼大模型机器人能力、配置、知识库、Agent 调试链路的整体理解，可服务后续竞品/客户方案判断。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DE6BA-A638-4B34-9EA1-7D1DBB04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沉淀规则：本地资料的最新明确路径优先；用户要求“所有 PDF”时，默认全覆盖。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8B38C-8A0C-4341-8C10-7D19491A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15609-B6CF-4237-934D-068961E1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65464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62915-3D4F-4BEF-827C-B6434C15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F583D-E4A6-4835-80B1-C1202FF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6/20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2452C-B2E9-43AA-BA08-303161C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14EBA-B051-4E6E-899D-2891908E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仓库与协作资产整理日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7054E-0950-4AC1-B509-63975EB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6/20 的主线是让 Codex 工作区从“能跑”变成“可提交、可复用、可协作”。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6F7D-1706-49E3-964C-7482EE61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BF4DD-9E62-4790-BBD7-0823BB9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CC82C-65B7-4531-A0BF-DE1A5CE3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35E4A-E42E-455E-B157-2729D7A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B78CE-75BC-43C7-8B56-A76F680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C9962-7808-440D-B6DA-F71D416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9A99-4240-4AE8-8891-2A203BC2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19B2-3DCF-4958-8C7A-1C87AB6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68991-6A00-48FF-A396-48C2C84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0220A-06BE-41E1-AFD8-DFA30DC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文档中文化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D9B40-11A0-41D4-91EA-A7B4FBF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FE60E-7274-44C7-BB78-B8F9AB5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README、docs、skills、页面说明改为中文优先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56EDF-3BF8-44C8-9EE0-714B7B1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151CE-6AEC-44EE-84ED-CA08BD1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中文协作文档骨架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C32D0-86AB-4C3F-ABDF-38E01708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1E651-E688-4471-A3FB-8C1F2C0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保留命令/API/路径英文原文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DF328-4A9B-4872-8861-4072DF51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716EB-A7AB-4AA9-842A-69AF4C05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资产入库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C68E3-78C1-405A-99C8-3A210DC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6AF0A-5B0A-46B0-B528-ED1554E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盘点脚本、skill、代码成果，选择性纳入 Git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E6391-F758-47F4-BDAE-EC7D5D93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25A79-C6B6-4AE7-B6B4-1C0E1380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src/test/scripts/skills 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DC396-58FE-43E9-A32F-10D93EF2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3D467-14F8-431A-AB1A-C4FBD5C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npm test 48 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14618-381B-48E3-919E-D6E44CDF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CE84AB-19AA-4F73-A0AE-EB96A65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安全处理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DFC18-0034-49DB-9619-53DDFDC8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E7275F-8771-4B4A-9A6C-3A1945B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固定飞书 token 改为 MONTHLY_REVIEW_DOC_TOKEN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061EDD-5DAA-4066-B0D2-368B3E85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37FE3-BC66-4A51-8C86-A082D510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.gitignore 扩展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B05CFD-FAF6-4B2B-8DD1-6024BE1A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890D63-4ACA-4B4F-BCBA-0D7F934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secret scan 未命中真实 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0ED90-5D6A-4398-AA7D-80CE4D5A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43D6A-E996-410A-AF51-183B237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协作路径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71647E-49EA-4770-BD8B-C189732C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EF5C4-33AA-4193-9948-870F77A9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建议 active Codex workspace 与 Git repo 合一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4CBD75-39BC-479A-899C-6D7161D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27B310-8308-4572-BACC-CFF1510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减少双仓漂移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A01F88-45ED-436E-B479-A5043C6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2A9D41-7FE4-49B3-8083-80AAD4A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git remote/status/top-level 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B9ED9-1F93-4AEF-8B3A-334906D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C67D30-4C93-4A5B-B822-E62F875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16809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796EB8-3420-4E98-A7A3-2546D86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A1636-AEB1-4C0A-BB6F-DB51F55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工程资产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04F2F-58B4-40A3-90E7-C22A2CB9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D07B6-5476-4857-96D3-7F85820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仓库中文化与可复用成果入库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DD36-2CF6-4C20-9890-7A59D5B9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这页把 6/20 的工程成果拆成“用户可见、可运行、可维护”三层。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1E285-6268-4DB6-89C6-65932C7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97556-8AB7-452B-A6CC-4FD6EB4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B3C"/>
                </a:solidFill>
              </a:defRPr>
            </a:pPr>
            <a:r>
              <a:rPr sz="1500" b="1">
                <a:solidFill>
                  <a:srgbClr val="B85B3C"/>
                </a:solidFill>
              </a:rPr>
              <a:t>用户可见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65319-98E1-4E80-B3A8-9C02DD90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README 与 docs 中文化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新增角色/任务/协作流程文档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docs/collaboration/artifact-inventory.md 记录成果清单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14204-02DF-4578-A869-8DAF330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842B5-0EFC-44F6-B569-6C6A1BFB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773"/>
                </a:solidFill>
              </a:defRPr>
            </a:pPr>
            <a:r>
              <a:rPr sz="1500" b="1">
                <a:solidFill>
                  <a:srgbClr val="1F7773"/>
                </a:solidFill>
              </a:rPr>
              <a:t>可运行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F5FFE-3EFA-48EF-B35D-8142522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src、test、scripts、skills、ai-monthly-review-site 入库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package.json / lockfile / .env.example 同步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D:\nodejs24\npm.cmd test 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0A82E-72EB-440A-B1A7-61046EE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0A7F0-35BF-4D34-97D9-E93685B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A87"/>
                </a:solidFill>
              </a:defRPr>
            </a:pPr>
            <a:r>
              <a:rPr sz="1500" b="1">
                <a:solidFill>
                  <a:srgbClr val="526A87"/>
                </a:solidFill>
              </a:rPr>
              <a:t>可维护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1A586-67C7-467D-A77C-F03E1856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排除 tmp、.codex、二维码、生成数据文件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固定 token 改环境变量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未来提交只 stage 目标文件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7C69F-27F5-4501-ABD4-350306B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关键提交：932bc26 Localize docs and add reusable automation artifacts。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B6F06-C630-4ED5-AEFA-43BB3B93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C3F9D-44D5-421B-800C-ED9F46CC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610336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27DB8-6016-4005-ADD4-9C424A8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A768F-C40A-46BF-B169-7034ABB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DingTalk 学习沉淀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6835C-96A2-4C8F-85EB-0A2A6A28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CFEA-2743-4D2C-9F46-690B46E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DingTalk 学习：从读文档到本地参考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11237-8577-413D-B1F8-2A73DD1F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覆盖 CLI、MCP、OpenClaw、Agent，后续问题先查本地学习材料。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B5ACE-B1F1-454F-90D1-14BBF25D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9620-334A-485F-8625-74E54D02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7992-EAA8-469C-87D9-0F62270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42325-F9AA-4835-8C82-619D277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AA081-0A33-4664-BCE9-D480D97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3F18E-2DCB-4CF5-B588-3A4EC214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7E444-F36E-4EF2-9071-F1A8562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7EE7F-43CA-4B20-876A-46A99BE0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48E7B-EE8C-44A2-9E82-49E08902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904E7-3568-47F0-BB6F-12DB7AE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学习材料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976F5-9283-40FC-ADA3-280B193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662A8-BDAE-4C40-9994-383C669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读取 DingTalk docs sidebar 并整理到本地参考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A3489-E27C-4160-BCFE-022E9FA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52919-905E-41D0-896B-8261753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dingtalk-cli-mcp-openclaw-agent.md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28061-D1B3-4301-8934-82755DE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01DE6-3C16-427B-8436-C96F64CE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后续 DingTalk 问题优先查此文档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59DDC-357E-4ACE-8405-E5C447D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BF83A-0A42-4F14-91C3-6B7654E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路由判断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1BF83-AF3A-4604-98BB-0BF6B81B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A232E-54AC-44EC-8D67-F789454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区分 dws、MCP Square、mcporter、connector、Stream 模式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006FC-5E35-41E0-A2A4-C04E0DF1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8D440-E98D-412C-BAF1-C5F83B6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DingTalk app-dev skill 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397EF-05DC-4B28-AB77-C42EB06B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44CDD-6AB1-46D3-ABCB-DE1B1A5E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避免每次重学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622E7-DDC2-4651-A3DF-3460E24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F1BD2-FE06-4C90-8A86-CB0D4B4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登录边界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EF976E-BCEB-4C5D-8A00-2489ECB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9525F-F9E0-4D5A-AABF-2D44F11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cardConstruction 页面公开访问跳登录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72FAF-60C2-4640-9AE9-EDC2CE52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8EE2B4-7392-4B57-A213-3194C41A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gated access 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F8D20B-FD9B-428E-884C-E5C099B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352820-544F-4EA1-B7E2-1CF912F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needLogin=true，不继续绕过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812493-D4EA-45CE-9EA3-AFF40A2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26A6DC-70A9-4871-AE03-5AE22C4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Git 同步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04993D-9A2D-4363-BB51-4539EA0C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822450-96B7-49B1-938D-A3B48A1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学习笔记提交并推送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ECE01D-A070-43D2-A245-96ACCB5F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2CA62B-50C9-4072-8070-F8C59BCD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d6ffc0d Add DingTalk CLI MCP OpenClaw notes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BE8C6C-82C5-4339-BD58-71DD62D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D0F6D7-E104-48EC-9AF0-206556B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git push origin main 成功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3B54FE-4A78-47EB-8F3E-8D3ED35D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4AE464-5ADB-4AE0-819B-886B864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2067271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A82C1C-6C05-4FDF-922C-B301B57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D70A7-B5FF-4A79-ACCB-8714F3C6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6/21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26514-89BE-49EC-B622-B8422927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C033-1836-4FF1-BBDD-38B8733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监控、迁移、环境与长期身份升级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87826-BC4E-466C-B462-1853A65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6/21 把工具链进一步收拢：看得见用量、换机能启动、长期协作有身份。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F4AE0-8548-48D7-9663-7112E4F2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8611D-2FC0-4CEC-80C6-78F5335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32D15-7260-437C-882A-358114D2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4505F-F34B-413D-B460-F0633170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03C12-C588-4A71-92FC-B93694E2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C11FF-A9F6-4B76-B14B-D0A740F4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737C3-6939-4E1D-B6D4-A347530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65F7F-5000-4390-AD71-F9AFF1E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FA0B1-A32A-4E69-B44F-E644792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C9878-DEBE-470C-BB9F-4C6C836D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用量监控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2B678-DA9B-4205-BDD3-D76398B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303CB-075D-4FAD-8210-E6DB7A1F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构建本地 Codex 用量看板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6CDD2-0A78-4A51-8791-E182418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7190C-64E9-4CAB-940D-9A27B13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API + 静态站点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BDAF7-411D-4949-8674-CDAADCC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D8145-949D-4EB9-AEAC-769A7EA8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84 tests pass；真实 DB 返回数据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9480E-D50D-4908-BDC4-479CFF6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ADA66-F031-45EC-9789-D699770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仓库迁移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E608B-1325-4042-8F09-3852755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75257-60A7-47AC-BE03-956595C8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移动嵌套项目到 workspace root；排除 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AD614-67E7-4BA7-8657-3582B5EE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890C4-2660-4A1C-A8DD-DEA7A09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根目录成为主工作区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22E26-7600-4474-9D2A-A2ECEAFC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215B0-18E1-49CE-809F-15AE6B90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robocopy / git add 排除验证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F4A7F-80BD-4C1E-A84B-0455FB1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2EF360-32EE-4976-B0FB-C5B85233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setup.bat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2D66F-4544-4BCD-9F7E-8D3505A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6106A-ABF6-4EF3-946A-4FED651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新机器一键环境脚本；检查 Node/npm；复制 .env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9888D-6A98-492B-B8B8-0326072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68043-F619-485A-832E-D335D9A0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Windows onboarding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F9FEE4-E537-42A3-8BE3-D805BC2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DD3E6-8DF6-4302-8512-A14A83B7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不自动跑测试，只提示命令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6E58C3-3EF3-4F5A-8FC2-FA5BD02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572990-CF91-4DAC-83DF-4D62A5F1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身份升级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60D31-2463-4A6E-8B50-4320C3D7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6CAFCB-E386-4DFB-B269-FE23510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从运营助手升级为合伙人咨询师 / 公司经营协作伙伴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EA5081-B486-4DD2-BBD8-2DE4D10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774991-0916-44DA-9C07-0DD80C01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KnowledgeBase 起点文档 + skill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088E51-C00D-42F1-88E5-25AC7474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FB512A-8372-4336-A2C6-025958CB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九大模块视角写入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4C966F-4398-40CF-B930-8A1185F9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11E012-66A9-4B79-948F-57FF00C9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786450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765846-BE16-4115-B717-58AA1FB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5B6D4-EDCC-465D-B075-F527F98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Codex 用量看板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00906-0889-41E9-8053-D8B0597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84CF3-BF42-4E58-81F6-64B0435E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实时用量看板：把 Codex 本地状态变成可观测系统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BEDE7-D612-4C17-A084-3F9B442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用户要实时监控每个对话的用量，所以第一版直接读取真实 SQLite，而不是做 mock。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03DD8-D1FE-4BEF-9F73-E834ED97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EDF4-8D4E-4DA0-A4CF-47AE4AD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B3C"/>
                </a:solidFill>
              </a:defRPr>
            </a:pPr>
            <a:r>
              <a:rPr sz="1500" b="1">
                <a:solidFill>
                  <a:srgbClr val="B85B3C"/>
                </a:solidFill>
              </a:rPr>
              <a:t>数据源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610A5-4FEC-476C-A7A2-5D6060AE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state_5.sqlite threads：tokens_used、title、cwd、updated_at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logs_2.sqlite logs：response.completed usage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read-only DatabaseSync 访问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255E1-4341-45D1-B347-EB1DB368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CBE27-3A77-4D36-B77C-2588806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773"/>
                </a:solidFill>
              </a:defRPr>
            </a:pPr>
            <a:r>
              <a:rPr sz="1500" b="1">
                <a:solidFill>
                  <a:srgbClr val="1F7773"/>
                </a:solidFill>
              </a:rPr>
              <a:t>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52065-8E11-45E5-A387-0D22957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src/codex-usage.ts 访问层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src/server.ts 暴露 summary / threads / recent-events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codex-usage-site 前端轮询刷新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34A05-FAF9-4003-8ED6-4827620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7F8E8-5775-4D03-9741-92A0C37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A87"/>
                </a:solidFill>
              </a:defRPr>
            </a:pPr>
            <a:r>
              <a:rPr sz="1500" b="1">
                <a:solidFill>
                  <a:srgbClr val="526A87"/>
                </a:solidFill>
              </a:rPr>
              <a:t>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7E92D-3A9A-47F8-AF9E-BE7832C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28384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PORT=3107 启动服务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HTTP 200 + API 返回真实数据</a:t>
            </a:r>
          </a:p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D:\nodejs24\npm.cmd test：84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F08CD-1153-4B89-BEA8-5CB9784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沉淀：PowerShell 环境优先用 npm.cmd；HTTP 检查用 -UseBasicParsing；Playwright npx 下载不作为主验证路径。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66839-292A-4625-9133-6EA404B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2AFFF-5C08-4073-AD38-5E7186F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6053707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57258-C129-4DBB-86CC-2C5B3F30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927E-837E-457E-9A62-7AA26543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公司经营协作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777A4-2D4B-471D-BF09-4CDCD70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29D9C-0D63-4149-9135-C848AD9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从运营助手到合伙人咨询师：长期协作身份升级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A81A7-CB1B-4C96-AED4-9C7F98E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这是四天里最重要的“方向性”成果：明确 Codex 不只做任务，还要帮助提升公司经营视野。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91510-E58A-4140-8D14-E1BDB654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84AB0-10C8-41D6-87BE-017AA092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539A7-F9E5-414B-AD74-1EECC23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4007D-3A53-4148-AC08-275D507D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468FF-3917-4972-A53A-352C2571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47015-C02E-4F19-810C-41B64D2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A7E52-176F-403A-BA54-E5EFF9D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9D30C-C407-4424-8247-24115802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6361B-D618-4DED-9981-662D96E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AFC6A-9E78-4704-8DBD-650945EE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长期定位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68A82-18C1-4411-99FC-C290AF9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DF126-265D-4D2A-845E-4364802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用户明确要求战略视角 + 高执行落地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EB713-1FB5-4BED-B142-94BAD68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6AFBB-15C7-498E-B07B-C780FA6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个人合伙人咨询师 / 公司经营协作伙伴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D6F52-7EA6-4D12-A878-2AC7D6E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951E7-B9DB-4BC7-96F1-711CDB4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写入本地记忆和 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689D3-7A18-48C3-BB20-B814BDB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0E5F0-F09B-4E05-91BE-9B78FF9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知识库主场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775EA-C92B-4E05-8CC2-5118BD9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776C2-E49F-4DAE-AFED-84EC556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E:\KnowledgeBase 作为长期个人知识基座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45224-9C72-4143-A8EB-7196B337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D5100-BFFD-47BF-8AA5-2F9269F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Obsidian 风格目录结构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ADB56-E4D8-44B9-A61C-CFE875A3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EF16D-A97D-48F8-9B6A-CE42F4D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project000/docs 只放工程相关文档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1CB1A-14B6-4608-BFBE-1EAEC0F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48EB7-6FF7-4BFB-80C3-6C0F542D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九大模块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39731-59CB-42B3-B4F6-DF9409F4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F2DAD-24CE-4F2D-A51A-48BC8165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战略、市场、产品、运营、技术、人事、行政、财务、法务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58CAB-E8C2-43B6-8FFF-669AF3DA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BF5F52-0924-447D-8064-1CE71F5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公司经营驾驶舱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0F7204-D445-43AD-B011-682F407C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E4B15-DE96-4E3B-B647-A2537C1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客户风险是入口，不是边界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6B06C-80FA-4851-A6C1-B8EA3E2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96F6E-EA3C-4E73-AD27-87DFBB3C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落地文档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7BE9A5-7206-48E1-94F9-069DADCD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280E05-8521-4981-BFF9-8500720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更新驾驶舱、客户风险雷达、AI 协作机制、合伙人原则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315872-58BC-47DE-BEB0-72AA940E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069AED-1D84-48A8-AD5A-D876BBE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personal-company-copilot skill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C0BD37-AC4E-4291-9007-BA886F91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DD2BC4-0D9A-441B-A0D8-1766920D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quick_validate.py 通过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4A4C85-6C21-4E56-9A40-1A517360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7F3D3-7E66-4A20-A756-F38727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2085100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7AD8E-50E8-4913-8557-998C5C6B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ECB09-A43A-47FF-8026-7F89620A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环境 / 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3E729-1F0B-4582-9A17-D44C33D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3423F-D532-4C8F-84BC-538AF85E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环境与交付能力：让下一次工作更少卡在机器上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5DD81-A54B-42FC-9897-0AA8ED8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这一组工作看似杂，但共同目标是降低以后协作、部署、迁移和排障成本。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1B0F4-AFC6-4FCE-B9CC-AF23ED8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285BE-F7EE-4DF5-B32E-DE3D5E61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 / 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1C92F-593A-4315-AE58-4C12F377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BF4DE-0AD5-4386-8E3C-C4FFA1B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4AFBA-90AD-4D36-B1B0-186FC389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AC415-6428-44E7-9C87-AD11522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产出物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40CBF-5780-48FB-BCF6-B36730A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DABFF-2F3E-47D9-93ED-8E7ED79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 / 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6CF72-1E16-475B-BA8C-26AFED8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16F3F-2157-4564-A3A9-7331B2C9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PowerShell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D5FAF-378A-4440-826A-3EEB954F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AD3E9-156E-4AE5-9763-784E7F08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检查 Windows PowerShell 与 PowerShell 7；winget 不可用后走 MSI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9D864-CEC5-406F-8744-BAA4A2D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C6642-2CE9-4BAA-B7E3-D99E8C8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PowerShell 7.6.3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3CE80-6AF1-4592-A102-2D8FD382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F0B2E-53BB-4662-BB95-B3A2DD1F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pwsh.exe 全路径验证；PATH 需新会话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107F2-6901-4BF4-AF84-D469795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3B442-D1E0-45F0-848B-1ACFC33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setup.bat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AD7F0-975A-4EAA-A3D3-95566BE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83CAA-32B6-4E22-A958-8493DE1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新机器 clone 后一键检查 Node 24/npm/.env 并安装依赖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CFA99-44E2-4E2C-A6FB-96116715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72489-5693-4146-BA40-84B4F883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Windows onboarding 脚本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B1159-76F3-4693-9253-D52FB0C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3C758-8735-47F1-BDFF-254C039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只打印后续命令，不自动跑全测试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05636-3730-481D-987F-10B4BD6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C782EF-8913-4740-B585-BB2A3BB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Git 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0E8B2-ACB5-44F8-81DE-8295B740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2FC70-83F4-4F97-95F1-D49B394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project000 替换远程内容；setup.bat 复制后提交推送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FA29F0-6061-4371-98DC-D0B7F12B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E4648-FCCC-4ACA-B039-5F205D8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远程 main 同步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51789-1B6B-44F0-836C-289D2FF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5F35AD-AEF1-45BF-AD74-83C3DFC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force-with-lease stale 后 fetch 再推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71BFA0-F57B-4CD8-863A-35B339C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9E8823-ECD7-4BF1-A79E-030AC5B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工作区运维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C91E4C-4501-47E2-AC52-5044547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2BD5F6-7F7D-4512-BF74-FBFDD8D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查找并关闭占用 workspace 的进程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171B3B-896C-4027-B9C1-B22E5400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346117-BC70-474A-A5F4-41B3952F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rename blocker 解除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CDB20F-7312-4E70-A69D-9D2F3861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053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A4B871-53FE-4A6E-8414-36F33B6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19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Win32_Process 过滤 command 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D79B06-1F5B-4784-81A5-B4836DE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B77D02-65AC-44CE-8540-9E1E94B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1229260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A2345-913F-4962-B0D8-E8FEA22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33FD-0686-4372-A470-957814E9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06A"/>
                </a:solidFill>
              </a:defRPr>
            </a:pPr>
            <a:r>
              <a:rPr sz="1050" b="1">
                <a:solidFill>
                  <a:srgbClr val="65706A"/>
                </a:solidFill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34C0D-1B72-411C-81AD-5FAADBC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5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9F20E-870A-4B8A-ABA2-4C66DEE0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12B"/>
                </a:solidFill>
              </a:defRPr>
            </a:pPr>
            <a:r>
              <a:rPr sz="2775" b="1">
                <a:solidFill>
                  <a:srgbClr val="17212B"/>
                </a:solidFill>
              </a:rPr>
              <a:t>下一轮动作：把复盘变成经营系统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91984-8049-4D17-9D80-194A1A9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后续重点不是继续堆工具，而是把已跑通的路径变成稳定机制。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94654-12F9-4338-A653-08A5F63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BB0AE-7E8A-461F-A9C1-E694C57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BA7BB-8052-435B-ACF6-9A7ED46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3CEA6-F955-4823-BE3C-4BDD94B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717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交付定义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954BB-1C36-4B69-8485-F8EE2F8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01A85-7772-49E2-87A0-532BDAF8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F7E5C-AD86-4135-9A11-D18AFCA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127F6-ED7B-48E5-AD1C-D50818A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AB27B-2945-45B7-BD4D-B5F3CF73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574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D5760-F1BB-41F3-A0B3-C524D6B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717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16B6E-1E1B-4278-B057-B8BF848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CDF51-8862-4DC3-A5CE-2962571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日报/月报复盘机制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CA9E9-D673-43F7-90F6-3D802C70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0A5DD-03A8-4E27-B8EF-42179C4E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固定输入源、输出模板、Feishu/Base 写入与本地留档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6F299-6E94-4FE5-AF4B-0CC422C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17B28-1BCC-4CE5-8BAE-188C22CB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我 + 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64C7E-30D6-4BB4-BE77-468BC4B9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D3C43-14D1-459B-89A0-6DCD80E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本周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B8EBD-D6FC-4B62-97DA-E4B68402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80009-833B-4D82-B849-955B8617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进行中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562A7-D459-432F-8B5C-D670061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D6784-24D9-483D-A303-98706757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自动化稳定性复验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9E325-F1BB-4B0C-AD16-C84F7C63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194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ADEB3-FF7C-4E78-A1B1-06EB427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528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退款率、钉钉群推、Stream 网关、DataFinder 数据链路定期检查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AE3BE-B12D-4286-BD66-751675B1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07C25-65DD-4E1E-B09D-0FF4F9D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我 + Codex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830FC6-3D14-4817-AB33-221522E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FC4DF-077C-40AA-B2A2-2EB8F4F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6/24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75A148-1D65-4DBD-B88E-FD243BB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1945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BD845A-5663-4D58-8057-A4FA6815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5280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待复查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6E4360-DA1A-4F26-814E-0305FA77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A5466-45B7-48B4-9CA9-3009FFC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KnowledgeBase 维护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EDAC3-BF22-4B98-9EBC-2022BE3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624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E789A-43EB-4D65-91FB-0A164289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9575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持续把客户风险、经营方法、决策记录沉淀到 E:\KnowledgeBase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9D519-49D5-425B-904E-225BB7F6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EA0F83-3D65-471E-B6AB-3738062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我 + Codex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49E0EC-981D-4583-BE99-FA989536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AA1A82-A128-4467-A4EF-F1931BC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持续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105E8D-CB0D-4F1D-B50A-32404A6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6240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2DD153-8C5E-413B-8152-D935B21C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57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长期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1DC20A-642D-4380-B66D-8ED735A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F6AF78-C205-477A-9FCE-E814BAB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经营驾驶舱扩展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FC20C4-7661-44BB-99E0-D572491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44A83A-1F88-403B-A4C5-6D74C3F6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387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从客户风险入口扩展到九大模块，形成公司经营协作仪表盘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3BA226-4037-4709-81D9-26C3F8E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D76E3C-14EE-461F-AA37-49F6418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我 + Codex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150E48-30AB-4C69-AB06-23A70BA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05350"/>
            <a:ext cx="104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CBC58B-8F55-47D5-9A17-66A0D844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3870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6/30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0FEF94-6623-4136-B83C-F96DD80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05350"/>
            <a:ext cx="123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5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8AF246-7051-490F-8B0B-BF27609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83870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规划中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E9AFA9-7201-41C6-A3FB-7217289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评价标准：下一次同类任务应该更快、更稳、更少解释背景，并能留下可复用资产。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C954D7-5F3D-4085-BA20-38732DD1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126317-A1C1-45CF-8F8F-0C60435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67C"/>
                </a:solidFill>
              </a:defRPr>
            </a:pPr>
            <a:r>
              <a:rPr sz="825" b="0">
                <a:solidFill>
                  <a:srgbClr val="8A867C"/>
                </a:solidFill>
              </a:rPr>
              <a:t>来源：本机 Codex memory / rollout summaries；范围：2026-06-19 至 2026-06-22</a:t>
            </a:r>
          </a:p>
        </p:txBody>
      </p:sp>
    </p:spTree>
    <p:extLst>
      <p:ext uri="{BB962C8B-B14F-4D97-AF65-F5344CB8AC3E}">
        <p14:creationId xmlns:p14="http://schemas.microsoft.com/office/powerpoint/2010/main" val="364311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2026-06-22T14:49:39.1240000Z</dcterms:created>
  <dcterms:modified xsi:type="dcterms:W3CDTF">2026-06-22T14:49:39.1240000Z</dcterms:modified>
</coreProperties>
</file>